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notesMasterIdLst>
    <p:notesMasterId r:id="rId27"/>
  </p:notesMasterIdLst>
  <p:sldIdLst>
    <p:sldId id="256" r:id="rId2"/>
    <p:sldId id="257" r:id="rId3"/>
    <p:sldId id="258" r:id="rId4"/>
    <p:sldId id="266" r:id="rId5"/>
    <p:sldId id="259" r:id="rId6"/>
    <p:sldId id="263" r:id="rId7"/>
    <p:sldId id="269" r:id="rId8"/>
    <p:sldId id="267" r:id="rId9"/>
    <p:sldId id="270" r:id="rId10"/>
    <p:sldId id="272" r:id="rId11"/>
    <p:sldId id="273" r:id="rId12"/>
    <p:sldId id="279" r:id="rId13"/>
    <p:sldId id="274" r:id="rId14"/>
    <p:sldId id="275" r:id="rId15"/>
    <p:sldId id="276" r:id="rId16"/>
    <p:sldId id="277" r:id="rId17"/>
    <p:sldId id="278" r:id="rId18"/>
    <p:sldId id="284" r:id="rId19"/>
    <p:sldId id="285" r:id="rId20"/>
    <p:sldId id="286" r:id="rId21"/>
    <p:sldId id="287" r:id="rId22"/>
    <p:sldId id="282" r:id="rId23"/>
    <p:sldId id="283" r:id="rId24"/>
    <p:sldId id="280" r:id="rId25"/>
    <p:sldId id="281"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33"/>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831" autoAdjust="0"/>
    <p:restoredTop sz="93595" autoAdjust="0"/>
  </p:normalViewPr>
  <p:slideViewPr>
    <p:cSldViewPr snapToGrid="0">
      <p:cViewPr varScale="1">
        <p:scale>
          <a:sx n="48" d="100"/>
          <a:sy n="48" d="100"/>
        </p:scale>
        <p:origin x="34" y="68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rushi Patel" userId="debf88984db5ddcd" providerId="LiveId" clId="{4F58BF88-0D4E-4B02-A30B-06AF898190A8}"/>
    <pc:docChg chg="undo redo custSel addSld modSld">
      <pc:chgData name="Krushi Patel" userId="debf88984db5ddcd" providerId="LiveId" clId="{4F58BF88-0D4E-4B02-A30B-06AF898190A8}" dt="2026-03-01T19:34:21.253" v="2103" actId="21"/>
      <pc:docMkLst>
        <pc:docMk/>
      </pc:docMkLst>
      <pc:sldChg chg="addSp delSp modSp mod">
        <pc:chgData name="Krushi Patel" userId="debf88984db5ddcd" providerId="LiveId" clId="{4F58BF88-0D4E-4B02-A30B-06AF898190A8}" dt="2026-03-01T18:59:24.347" v="2095" actId="1076"/>
        <pc:sldMkLst>
          <pc:docMk/>
          <pc:sldMk cId="2978488116" sldId="256"/>
        </pc:sldMkLst>
        <pc:spChg chg="mod">
          <ac:chgData name="Krushi Patel" userId="debf88984db5ddcd" providerId="LiveId" clId="{4F58BF88-0D4E-4B02-A30B-06AF898190A8}" dt="2026-03-01T18:59:24.347" v="2095" actId="1076"/>
          <ac:spMkLst>
            <pc:docMk/>
            <pc:sldMk cId="2978488116" sldId="256"/>
            <ac:spMk id="2" creationId="{C701A806-60E8-B1D2-089D-46B67D9F3D01}"/>
          </ac:spMkLst>
        </pc:spChg>
      </pc:sldChg>
      <pc:sldChg chg="addSp delSp modSp mod">
        <pc:chgData name="Krushi Patel" userId="debf88984db5ddcd" providerId="LiveId" clId="{4F58BF88-0D4E-4B02-A30B-06AF898190A8}" dt="2026-03-01T19:32:33.128" v="2100" actId="21"/>
        <pc:sldMkLst>
          <pc:docMk/>
          <pc:sldMk cId="1475826873" sldId="277"/>
        </pc:sldMkLst>
        <pc:picChg chg="add del mod">
          <ac:chgData name="Krushi Patel" userId="debf88984db5ddcd" providerId="LiveId" clId="{4F58BF88-0D4E-4B02-A30B-06AF898190A8}" dt="2026-03-01T19:30:44.477" v="2098" actId="21"/>
          <ac:picMkLst>
            <pc:docMk/>
            <pc:sldMk cId="1475826873" sldId="277"/>
            <ac:picMk id="5" creationId="{DF28B156-5982-181F-67DD-9EB59B8EE666}"/>
          </ac:picMkLst>
        </pc:picChg>
        <pc:picChg chg="add del">
          <ac:chgData name="Krushi Patel" userId="debf88984db5ddcd" providerId="LiveId" clId="{4F58BF88-0D4E-4B02-A30B-06AF898190A8}" dt="2026-03-01T19:32:33.128" v="2100" actId="21"/>
          <ac:picMkLst>
            <pc:docMk/>
            <pc:sldMk cId="1475826873" sldId="277"/>
            <ac:picMk id="7" creationId="{37A9B277-C72E-3F1B-DB58-42E6A5823ABF}"/>
          </ac:picMkLst>
        </pc:picChg>
      </pc:sldChg>
      <pc:sldChg chg="addSp delSp modSp mod">
        <pc:chgData name="Krushi Patel" userId="debf88984db5ddcd" providerId="LiveId" clId="{4F58BF88-0D4E-4B02-A30B-06AF898190A8}" dt="2026-03-01T19:34:21.253" v="2103" actId="21"/>
        <pc:sldMkLst>
          <pc:docMk/>
          <pc:sldMk cId="1946492669" sldId="282"/>
        </pc:sldMkLst>
        <pc:picChg chg="add del mod">
          <ac:chgData name="Krushi Patel" userId="debf88984db5ddcd" providerId="LiveId" clId="{4F58BF88-0D4E-4B02-A30B-06AF898190A8}" dt="2026-03-01T19:34:21.253" v="2103" actId="21"/>
          <ac:picMkLst>
            <pc:docMk/>
            <pc:sldMk cId="1946492669" sldId="282"/>
            <ac:picMk id="8" creationId="{3B76DCAF-68AE-F474-DACB-0F47BB6D1E94}"/>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B17B6A-F9CF-479B-AF1C-A7270F2BAC43}" type="datetimeFigureOut">
              <a:rPr lang="en-IN" smtClean="0"/>
              <a:t>02-03-2026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E272A11-ECF8-49F0-B989-0E55BC37938E}" type="slidenum">
              <a:rPr lang="en-IN" smtClean="0"/>
              <a:t>‹#›</a:t>
            </a:fld>
            <a:endParaRPr lang="en-IN"/>
          </a:p>
        </p:txBody>
      </p:sp>
    </p:spTree>
    <p:extLst>
      <p:ext uri="{BB962C8B-B14F-4D97-AF65-F5344CB8AC3E}">
        <p14:creationId xmlns:p14="http://schemas.microsoft.com/office/powerpoint/2010/main" val="35670652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E272A11-ECF8-49F0-B989-0E55BC37938E}" type="slidenum">
              <a:rPr lang="en-IN" smtClean="0"/>
              <a:t>1</a:t>
            </a:fld>
            <a:endParaRPr lang="en-IN"/>
          </a:p>
        </p:txBody>
      </p:sp>
    </p:spTree>
    <p:extLst>
      <p:ext uri="{BB962C8B-B14F-4D97-AF65-F5344CB8AC3E}">
        <p14:creationId xmlns:p14="http://schemas.microsoft.com/office/powerpoint/2010/main" val="40548202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Isosceles Triangle 22"/>
            <p:cNvSpPr/>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Isosceles Triangle 26"/>
            <p:cNvSpPr/>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9" name="Isosceles Triangle 28"/>
            <p:cNvSpPr/>
            <p:nvPr/>
          </p:nvSpPr>
          <p:spPr>
            <a:xfrm rot="10800000">
              <a:off x="0" y="0"/>
              <a:ext cx="842596" cy="5666154"/>
            </a:xfrm>
            <a:prstGeom prst="triangle">
              <a:avLst>
                <a:gd name="adj" fmla="val 10000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lumMod val="7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1292806-3DED-4ED5-9DE5-2E6C69E2C5BE}" type="datetimeFigureOut">
              <a:rPr lang="en-IN" smtClean="0"/>
              <a:t>02-03-2026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77B9F2A-B4FE-4C03-BCDD-464AF766772A}" type="slidenum">
              <a:rPr lang="en-IN" smtClean="0"/>
              <a:t>‹#›</a:t>
            </a:fld>
            <a:endParaRPr lang="en-IN"/>
          </a:p>
        </p:txBody>
      </p:sp>
    </p:spTree>
    <p:extLst>
      <p:ext uri="{BB962C8B-B14F-4D97-AF65-F5344CB8AC3E}">
        <p14:creationId xmlns:p14="http://schemas.microsoft.com/office/powerpoint/2010/main" val="4218359939"/>
      </p:ext>
    </p:extLst>
  </p:cSld>
  <p:clrMapOvr>
    <a:masterClrMapping/>
  </p:clrMapOvr>
  <p:transition spd="slow">
    <p:wip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1292806-3DED-4ED5-9DE5-2E6C69E2C5BE}" type="datetimeFigureOut">
              <a:rPr lang="en-IN" smtClean="0"/>
              <a:t>02-03-2026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77B9F2A-B4FE-4C03-BCDD-464AF766772A}" type="slidenum">
              <a:rPr lang="en-IN" smtClean="0"/>
              <a:t>‹#›</a:t>
            </a:fld>
            <a:endParaRPr lang="en-IN"/>
          </a:p>
        </p:txBody>
      </p:sp>
    </p:spTree>
    <p:extLst>
      <p:ext uri="{BB962C8B-B14F-4D97-AF65-F5344CB8AC3E}">
        <p14:creationId xmlns:p14="http://schemas.microsoft.com/office/powerpoint/2010/main" val="4166733304"/>
      </p:ext>
    </p:extLst>
  </p:cSld>
  <p:clrMapOvr>
    <a:masterClrMapping/>
  </p:clrMapOvr>
  <p:transition spd="slow">
    <p:wip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1292806-3DED-4ED5-9DE5-2E6C69E2C5BE}" type="datetimeFigureOut">
              <a:rPr lang="en-IN" smtClean="0"/>
              <a:t>02-03-2026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77B9F2A-B4FE-4C03-BCDD-464AF766772A}" type="slidenum">
              <a:rPr lang="en-IN" smtClean="0"/>
              <a:t>‹#›</a:t>
            </a:fld>
            <a:endParaRPr lang="en-IN"/>
          </a:p>
        </p:txBody>
      </p:sp>
    </p:spTree>
    <p:extLst>
      <p:ext uri="{BB962C8B-B14F-4D97-AF65-F5344CB8AC3E}">
        <p14:creationId xmlns:p14="http://schemas.microsoft.com/office/powerpoint/2010/main" val="1623035106"/>
      </p:ext>
    </p:extLst>
  </p:cSld>
  <p:clrMapOvr>
    <a:masterClrMapping/>
  </p:clrMapOvr>
  <p:transition spd="slow">
    <p:wip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1292806-3DED-4ED5-9DE5-2E6C69E2C5BE}" type="datetimeFigureOut">
              <a:rPr lang="en-IN" smtClean="0"/>
              <a:t>02-03-2026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77B9F2A-B4FE-4C03-BCDD-464AF766772A}" type="slidenum">
              <a:rPr lang="en-IN" smtClean="0"/>
              <a:t>‹#›</a:t>
            </a:fld>
            <a:endParaRPr lang="en-IN"/>
          </a:p>
        </p:txBody>
      </p:sp>
    </p:spTree>
    <p:extLst>
      <p:ext uri="{BB962C8B-B14F-4D97-AF65-F5344CB8AC3E}">
        <p14:creationId xmlns:p14="http://schemas.microsoft.com/office/powerpoint/2010/main" val="1388689996"/>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1292806-3DED-4ED5-9DE5-2E6C69E2C5BE}" type="datetimeFigureOut">
              <a:rPr lang="en-IN" smtClean="0"/>
              <a:t>02-03-2026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77B9F2A-B4FE-4C03-BCDD-464AF766772A}" type="slidenum">
              <a:rPr lang="en-IN" smtClean="0"/>
              <a:t>‹#›</a:t>
            </a:fld>
            <a:endParaRPr lang="en-IN"/>
          </a:p>
        </p:txBody>
      </p:sp>
    </p:spTree>
    <p:extLst>
      <p:ext uri="{BB962C8B-B14F-4D97-AF65-F5344CB8AC3E}">
        <p14:creationId xmlns:p14="http://schemas.microsoft.com/office/powerpoint/2010/main" val="859010796"/>
      </p:ext>
    </p:extLst>
  </p:cSld>
  <p:clrMapOvr>
    <a:masterClrMapping/>
  </p:clrMapOvr>
  <p:transition spd="slow">
    <p:wip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1292806-3DED-4ED5-9DE5-2E6C69E2C5BE}" type="datetimeFigureOut">
              <a:rPr lang="en-IN" smtClean="0"/>
              <a:t>02-03-2026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77B9F2A-B4FE-4C03-BCDD-464AF766772A}" type="slidenum">
              <a:rPr lang="en-IN" smtClean="0"/>
              <a:t>‹#›</a:t>
            </a:fld>
            <a:endParaRPr lang="en-IN"/>
          </a:p>
        </p:txBody>
      </p:sp>
    </p:spTree>
    <p:extLst>
      <p:ext uri="{BB962C8B-B14F-4D97-AF65-F5344CB8AC3E}">
        <p14:creationId xmlns:p14="http://schemas.microsoft.com/office/powerpoint/2010/main" val="1707096114"/>
      </p:ext>
    </p:extLst>
  </p:cSld>
  <p:clrMapOvr>
    <a:masterClrMapping/>
  </p:clrMapOvr>
  <p:transition spd="slow">
    <p:wip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1292806-3DED-4ED5-9DE5-2E6C69E2C5BE}" type="datetimeFigureOut">
              <a:rPr lang="en-IN" smtClean="0"/>
              <a:t>02-03-2026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77B9F2A-B4FE-4C03-BCDD-464AF766772A}" type="slidenum">
              <a:rPr lang="en-IN" smtClean="0"/>
              <a:t>‹#›</a:t>
            </a:fld>
            <a:endParaRPr lang="en-IN"/>
          </a:p>
        </p:txBody>
      </p:sp>
    </p:spTree>
    <p:extLst>
      <p:ext uri="{BB962C8B-B14F-4D97-AF65-F5344CB8AC3E}">
        <p14:creationId xmlns:p14="http://schemas.microsoft.com/office/powerpoint/2010/main" val="215202245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1292806-3DED-4ED5-9DE5-2E6C69E2C5BE}" type="datetimeFigureOut">
              <a:rPr lang="en-IN" smtClean="0"/>
              <a:t>02-03-2026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77B9F2A-B4FE-4C03-BCDD-464AF766772A}" type="slidenum">
              <a:rPr lang="en-IN" smtClean="0"/>
              <a:t>‹#›</a:t>
            </a:fld>
            <a:endParaRPr lang="en-IN"/>
          </a:p>
        </p:txBody>
      </p:sp>
    </p:spTree>
    <p:extLst>
      <p:ext uri="{BB962C8B-B14F-4D97-AF65-F5344CB8AC3E}">
        <p14:creationId xmlns:p14="http://schemas.microsoft.com/office/powerpoint/2010/main" val="294383812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1292806-3DED-4ED5-9DE5-2E6C69E2C5BE}" type="datetimeFigureOut">
              <a:rPr lang="en-IN" smtClean="0"/>
              <a:t>02-03-2026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77B9F2A-B4FE-4C03-BCDD-464AF766772A}" type="slidenum">
              <a:rPr lang="en-IN" smtClean="0"/>
              <a:t>‹#›</a:t>
            </a:fld>
            <a:endParaRPr lang="en-IN"/>
          </a:p>
        </p:txBody>
      </p:sp>
    </p:spTree>
    <p:extLst>
      <p:ext uri="{BB962C8B-B14F-4D97-AF65-F5344CB8AC3E}">
        <p14:creationId xmlns:p14="http://schemas.microsoft.com/office/powerpoint/2010/main" val="3553245495"/>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1292806-3DED-4ED5-9DE5-2E6C69E2C5BE}" type="datetimeFigureOut">
              <a:rPr lang="en-IN" smtClean="0"/>
              <a:t>02-03-2026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77B9F2A-B4FE-4C03-BCDD-464AF766772A}" type="slidenum">
              <a:rPr lang="en-IN" smtClean="0"/>
              <a:t>‹#›</a:t>
            </a:fld>
            <a:endParaRPr lang="en-IN"/>
          </a:p>
        </p:txBody>
      </p:sp>
    </p:spTree>
    <p:extLst>
      <p:ext uri="{BB962C8B-B14F-4D97-AF65-F5344CB8AC3E}">
        <p14:creationId xmlns:p14="http://schemas.microsoft.com/office/powerpoint/2010/main" val="2741135666"/>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1292806-3DED-4ED5-9DE5-2E6C69E2C5BE}" type="datetimeFigureOut">
              <a:rPr lang="en-IN" smtClean="0"/>
              <a:t>02-03-2026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77B9F2A-B4FE-4C03-BCDD-464AF766772A}"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454201960"/>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1292806-3DED-4ED5-9DE5-2E6C69E2C5BE}" type="datetimeFigureOut">
              <a:rPr lang="en-IN" smtClean="0"/>
              <a:t>02-03-2026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77B9F2A-B4FE-4C03-BCDD-464AF766772A}" type="slidenum">
              <a:rPr lang="en-IN" smtClean="0"/>
              <a:t>‹#›</a:t>
            </a:fld>
            <a:endParaRPr lang="en-IN"/>
          </a:p>
        </p:txBody>
      </p:sp>
    </p:spTree>
    <p:extLst>
      <p:ext uri="{BB962C8B-B14F-4D97-AF65-F5344CB8AC3E}">
        <p14:creationId xmlns:p14="http://schemas.microsoft.com/office/powerpoint/2010/main" val="2556743914"/>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1292806-3DED-4ED5-9DE5-2E6C69E2C5BE}" type="datetimeFigureOut">
              <a:rPr lang="en-IN" smtClean="0"/>
              <a:t>02-03-2026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77B9F2A-B4FE-4C03-BCDD-464AF766772A}"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259504673"/>
      </p:ext>
    </p:extLst>
  </p:cSld>
  <p:clrMapOvr>
    <a:masterClrMapping/>
  </p:clrMapOvr>
  <p:transition spd="slow">
    <p:wip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1292806-3DED-4ED5-9DE5-2E6C69E2C5BE}" type="datetimeFigureOut">
              <a:rPr lang="en-IN" smtClean="0"/>
              <a:t>02-03-2026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77B9F2A-B4FE-4C03-BCDD-464AF766772A}" type="slidenum">
              <a:rPr lang="en-IN" smtClean="0"/>
              <a:t>‹#›</a:t>
            </a:fld>
            <a:endParaRPr lang="en-IN"/>
          </a:p>
        </p:txBody>
      </p:sp>
    </p:spTree>
    <p:extLst>
      <p:ext uri="{BB962C8B-B14F-4D97-AF65-F5344CB8AC3E}">
        <p14:creationId xmlns:p14="http://schemas.microsoft.com/office/powerpoint/2010/main" val="2599064794"/>
      </p:ext>
    </p:extLst>
  </p:cSld>
  <p:clrMapOvr>
    <a:masterClrMapping/>
  </p:clrMapOvr>
  <p:transition spd="slow">
    <p:wip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1292806-3DED-4ED5-9DE5-2E6C69E2C5BE}" type="datetimeFigureOut">
              <a:rPr lang="en-IN" smtClean="0"/>
              <a:t>02-03-2026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77B9F2A-B4FE-4C03-BCDD-464AF766772A}" type="slidenum">
              <a:rPr lang="en-IN" smtClean="0"/>
              <a:t>‹#›</a:t>
            </a:fld>
            <a:endParaRPr lang="en-IN"/>
          </a:p>
        </p:txBody>
      </p:sp>
    </p:spTree>
    <p:extLst>
      <p:ext uri="{BB962C8B-B14F-4D97-AF65-F5344CB8AC3E}">
        <p14:creationId xmlns:p14="http://schemas.microsoft.com/office/powerpoint/2010/main" val="664424684"/>
      </p:ext>
    </p:extLst>
  </p:cSld>
  <p:clrMapOvr>
    <a:masterClrMapping/>
  </p:clrMapOvr>
  <p:transition spd="slow">
    <p:wip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1292806-3DED-4ED5-9DE5-2E6C69E2C5BE}" type="datetimeFigureOut">
              <a:rPr lang="en-IN" smtClean="0"/>
              <a:t>02-03-2026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77B9F2A-B4FE-4C03-BCDD-464AF766772A}" type="slidenum">
              <a:rPr lang="en-IN" smtClean="0"/>
              <a:t>‹#›</a:t>
            </a:fld>
            <a:endParaRPr lang="en-IN"/>
          </a:p>
        </p:txBody>
      </p:sp>
    </p:spTree>
    <p:extLst>
      <p:ext uri="{BB962C8B-B14F-4D97-AF65-F5344CB8AC3E}">
        <p14:creationId xmlns:p14="http://schemas.microsoft.com/office/powerpoint/2010/main" val="2387706107"/>
      </p:ext>
    </p:extLst>
  </p:cSld>
  <p:clrMapOvr>
    <a:masterClrMapping/>
  </p:clrMapOvr>
  <p:transition spd="slow">
    <p:wip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9" name="Group 28"/>
          <p:cNvGrpSpPr/>
          <p:nvPr/>
        </p:nvGrpSpPr>
        <p:grpSpPr>
          <a:xfrm>
            <a:off x="0" y="-8467"/>
            <a:ext cx="12192000" cy="6866467"/>
            <a:chOff x="0" y="-8467"/>
            <a:chExt cx="12192000" cy="6866467"/>
          </a:xfrm>
        </p:grpSpPr>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Isosceles Triangle 22"/>
            <p:cNvSpPr/>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Isosceles Triangle 26"/>
            <p:cNvSpPr/>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Isosceles Triangle 27"/>
            <p:cNvSpPr/>
            <p:nvPr/>
          </p:nvSpPr>
          <p:spPr>
            <a:xfrm>
              <a:off x="0" y="4013200"/>
              <a:ext cx="448733" cy="2844800"/>
            </a:xfrm>
            <a:prstGeom prst="triangle">
              <a:avLst>
                <a:gd name="adj" fmla="val 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61292806-3DED-4ED5-9DE5-2E6C69E2C5BE}" type="datetimeFigureOut">
              <a:rPr lang="en-IN" smtClean="0"/>
              <a:t>02-03-2026</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lumMod val="75000"/>
                  </a:schemeClr>
                </a:solidFill>
              </a:defRPr>
            </a:lvl1pPr>
          </a:lstStyle>
          <a:p>
            <a:fld id="{677B9F2A-B4FE-4C03-BCDD-464AF766772A}" type="slidenum">
              <a:rPr lang="en-IN" smtClean="0"/>
              <a:t>‹#›</a:t>
            </a:fld>
            <a:endParaRPr lang="en-IN"/>
          </a:p>
        </p:txBody>
      </p:sp>
    </p:spTree>
    <p:extLst>
      <p:ext uri="{BB962C8B-B14F-4D97-AF65-F5344CB8AC3E}">
        <p14:creationId xmlns:p14="http://schemas.microsoft.com/office/powerpoint/2010/main" val="1839641510"/>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transition spd="slow">
    <p:wipe/>
  </p:transition>
  <p:txStyles>
    <p:titleStyle>
      <a:lvl1pPr algn="l" defTabSz="457200" rtl="0" eaLnBrk="1" latinLnBrk="0" hangingPunct="1">
        <a:spcBef>
          <a:spcPct val="0"/>
        </a:spcBef>
        <a:buNone/>
        <a:defRPr sz="3600" kern="1200">
          <a:solidFill>
            <a:schemeClr val="accent1">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lumMod val="75000"/>
          </a:schemeClr>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lumMod val="75000"/>
          </a:schemeClr>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6.xml"/><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6.xml"/><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6.xml"/><Relationship Id="rId4" Type="http://schemas.openxmlformats.org/officeDocument/2006/relationships/image" Target="../media/image28.png"/></Relationships>
</file>

<file path=ppt/slides/_rels/slide2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hyperlink" Target="https://www.mca.gov.in/content/mca/global/" TargetMode="External"/><Relationship Id="rId7" Type="http://schemas.openxmlformats.org/officeDocument/2006/relationships/hyperlink" Target="https://www.youtube.com/" TargetMode="External"/><Relationship Id="rId2" Type="http://schemas.openxmlformats.org/officeDocument/2006/relationships/hyperlink" Target="https://www.apachefriends.org/" TargetMode="External"/><Relationship Id="rId1" Type="http://schemas.openxmlformats.org/officeDocument/2006/relationships/slideLayout" Target="../slideLayouts/slideLayout6.xml"/><Relationship Id="rId6" Type="http://schemas.openxmlformats.org/officeDocument/2006/relationships/hyperlink" Target="https://chatgpt.com/" TargetMode="External"/><Relationship Id="rId5" Type="http://schemas.openxmlformats.org/officeDocument/2006/relationships/hyperlink" Target="https://gemini.google.com/" TargetMode="External"/><Relationship Id="rId4" Type="http://schemas.openxmlformats.org/officeDocument/2006/relationships/hyperlink" Target="https://www.akshayapatra.or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1A806-60E8-B1D2-089D-46B67D9F3D01}"/>
              </a:ext>
            </a:extLst>
          </p:cNvPr>
          <p:cNvSpPr>
            <a:spLocks noGrp="1"/>
          </p:cNvSpPr>
          <p:nvPr>
            <p:ph type="ctrTitle"/>
          </p:nvPr>
        </p:nvSpPr>
        <p:spPr>
          <a:xfrm>
            <a:off x="1576641" y="363684"/>
            <a:ext cx="7420623" cy="4218041"/>
          </a:xfrm>
        </p:spPr>
        <p:txBody>
          <a:bodyPr/>
          <a:lstStyle/>
          <a:p>
            <a:pPr algn="ctr"/>
            <a:br>
              <a:rPr lang="en-IN" sz="2000" dirty="0">
                <a:solidFill>
                  <a:srgbClr val="FF6600"/>
                </a:solidFill>
              </a:rPr>
            </a:br>
            <a:br>
              <a:rPr lang="en-IN" sz="2000" dirty="0">
                <a:solidFill>
                  <a:srgbClr val="FF6600"/>
                </a:solidFill>
              </a:rPr>
            </a:br>
            <a:r>
              <a:rPr lang="en-IN" sz="3200" b="1" i="1" dirty="0">
                <a:solidFill>
                  <a:srgbClr val="FF6600"/>
                </a:solidFill>
                <a:latin typeface="Gabriola" panose="04040605051002020D02" pitchFamily="82" charset="0"/>
                <a:cs typeface="Times New Roman" panose="02020603050405020304" pitchFamily="18" charset="0"/>
              </a:rPr>
              <a:t>SHRINATHJI COLLEGE OF COMPUTER APPLICATION </a:t>
            </a:r>
            <a:br>
              <a:rPr lang="en-IN" sz="2000" dirty="0">
                <a:latin typeface="Times New Roman" panose="02020603050405020304" pitchFamily="18" charset="0"/>
                <a:cs typeface="Times New Roman" panose="02020603050405020304" pitchFamily="18" charset="0"/>
              </a:rPr>
            </a:br>
            <a:br>
              <a:rPr lang="en-IN" sz="2000" dirty="0">
                <a:latin typeface="Times New Roman" panose="02020603050405020304" pitchFamily="18" charset="0"/>
                <a:cs typeface="Times New Roman" panose="02020603050405020304" pitchFamily="18" charset="0"/>
              </a:rPr>
            </a:br>
            <a:br>
              <a:rPr lang="en-IN" sz="2000" dirty="0"/>
            </a:br>
            <a:br>
              <a:rPr lang="en-IN" sz="2000" dirty="0"/>
            </a:br>
            <a:br>
              <a:rPr lang="en-IN" sz="2000" dirty="0"/>
            </a:br>
            <a:br>
              <a:rPr lang="en-IN" sz="2000" dirty="0"/>
            </a:br>
            <a:br>
              <a:rPr lang="en-IN" sz="2000" dirty="0"/>
            </a:br>
            <a:br>
              <a:rPr lang="en-IN" sz="2000" dirty="0"/>
            </a:br>
            <a:br>
              <a:rPr lang="en-IN" sz="2000" dirty="0"/>
            </a:br>
            <a:br>
              <a:rPr lang="en-IN" sz="2000" dirty="0"/>
            </a:br>
            <a:br>
              <a:rPr lang="en-IN" sz="2000" dirty="0"/>
            </a:br>
            <a:br>
              <a:rPr lang="en-IN" sz="2000" dirty="0"/>
            </a:br>
            <a:r>
              <a:rPr lang="en-IN" sz="2800" dirty="0" err="1">
                <a:solidFill>
                  <a:srgbClr val="FF6600"/>
                </a:solidFill>
                <a:latin typeface="Pacifico" panose="00000500000000000000" pitchFamily="2" charset="0"/>
              </a:rPr>
              <a:t>ServeKind</a:t>
            </a:r>
            <a:endParaRPr lang="en-IN" sz="2000" dirty="0">
              <a:latin typeface="Pacifico" panose="00000500000000000000" pitchFamily="2" charset="0"/>
            </a:endParaRPr>
          </a:p>
        </p:txBody>
      </p:sp>
      <p:pic>
        <p:nvPicPr>
          <p:cNvPr id="4" name="Picture 3">
            <a:extLst>
              <a:ext uri="{FF2B5EF4-FFF2-40B4-BE49-F238E27FC236}">
                <a16:creationId xmlns:a16="http://schemas.microsoft.com/office/drawing/2014/main" id="{D9228579-323E-6AB3-7FFF-0495BD389BA3}"/>
              </a:ext>
            </a:extLst>
          </p:cNvPr>
          <p:cNvPicPr/>
          <p:nvPr/>
        </p:nvPicPr>
        <p:blipFill>
          <a:blip r:embed="rId3"/>
          <a:stretch>
            <a:fillRect/>
          </a:stretch>
        </p:blipFill>
        <p:spPr>
          <a:xfrm>
            <a:off x="3817203" y="1320947"/>
            <a:ext cx="2800350" cy="2533015"/>
          </a:xfrm>
          <a:prstGeom prst="rect">
            <a:avLst/>
          </a:prstGeom>
        </p:spPr>
      </p:pic>
      <p:sp>
        <p:nvSpPr>
          <p:cNvPr id="9" name="TextBox 8">
            <a:extLst>
              <a:ext uri="{FF2B5EF4-FFF2-40B4-BE49-F238E27FC236}">
                <a16:creationId xmlns:a16="http://schemas.microsoft.com/office/drawing/2014/main" id="{0100B338-A8EF-A670-1CBC-BDD889692794}"/>
              </a:ext>
            </a:extLst>
          </p:cNvPr>
          <p:cNvSpPr txBox="1"/>
          <p:nvPr/>
        </p:nvSpPr>
        <p:spPr>
          <a:xfrm>
            <a:off x="599768" y="5038407"/>
            <a:ext cx="2163097" cy="923330"/>
          </a:xfrm>
          <a:prstGeom prst="rect">
            <a:avLst/>
          </a:prstGeom>
          <a:noFill/>
        </p:spPr>
        <p:txBody>
          <a:bodyPr wrap="square" rtlCol="0">
            <a:spAutoFit/>
          </a:bodyPr>
          <a:lstStyle/>
          <a:p>
            <a:r>
              <a:rPr lang="en-IN" b="1" i="1" dirty="0">
                <a:solidFill>
                  <a:srgbClr val="FF6600"/>
                </a:solidFill>
                <a:latin typeface="Times New Roman" panose="02020603050405020304" pitchFamily="18" charset="0"/>
                <a:cs typeface="Times New Roman" panose="02020603050405020304" pitchFamily="18" charset="0"/>
              </a:rPr>
              <a:t>Submitted By</a:t>
            </a:r>
            <a:r>
              <a:rPr lang="en-IN" i="1" dirty="0">
                <a:solidFill>
                  <a:srgbClr val="FF6600"/>
                </a:solidFill>
                <a:latin typeface="Times New Roman" panose="02020603050405020304" pitchFamily="18" charset="0"/>
                <a:cs typeface="Times New Roman" panose="02020603050405020304" pitchFamily="18" charset="0"/>
              </a:rPr>
              <a:t>:</a:t>
            </a:r>
          </a:p>
          <a:p>
            <a:r>
              <a:rPr lang="en-IN" i="1" dirty="0" err="1">
                <a:latin typeface="Times New Roman" panose="02020603050405020304" pitchFamily="18" charset="0"/>
                <a:cs typeface="Times New Roman" panose="02020603050405020304" pitchFamily="18" charset="0"/>
              </a:rPr>
              <a:t>Riddhi</a:t>
            </a:r>
            <a:r>
              <a:rPr lang="en-IN" i="1" dirty="0">
                <a:latin typeface="Times New Roman" panose="02020603050405020304" pitchFamily="18" charset="0"/>
                <a:cs typeface="Times New Roman" panose="02020603050405020304" pitchFamily="18" charset="0"/>
              </a:rPr>
              <a:t> </a:t>
            </a:r>
            <a:r>
              <a:rPr lang="en-IN" i="1" dirty="0" err="1">
                <a:latin typeface="Times New Roman" panose="02020603050405020304" pitchFamily="18" charset="0"/>
                <a:cs typeface="Times New Roman" panose="02020603050405020304" pitchFamily="18" charset="0"/>
              </a:rPr>
              <a:t>Pawar</a:t>
            </a:r>
            <a:r>
              <a:rPr lang="en-IN" i="1" dirty="0">
                <a:latin typeface="Times New Roman" panose="02020603050405020304" pitchFamily="18" charset="0"/>
                <a:cs typeface="Times New Roman" panose="02020603050405020304" pitchFamily="18" charset="0"/>
              </a:rPr>
              <a:t>(7961)</a:t>
            </a:r>
          </a:p>
          <a:p>
            <a:r>
              <a:rPr lang="en-IN" i="1" dirty="0">
                <a:latin typeface="Times New Roman" panose="02020603050405020304" pitchFamily="18" charset="0"/>
                <a:cs typeface="Times New Roman" panose="02020603050405020304" pitchFamily="18" charset="0"/>
              </a:rPr>
              <a:t>Krushi Patel(7960)</a:t>
            </a:r>
          </a:p>
        </p:txBody>
      </p:sp>
      <p:sp>
        <p:nvSpPr>
          <p:cNvPr id="10" name="TextBox 9">
            <a:extLst>
              <a:ext uri="{FF2B5EF4-FFF2-40B4-BE49-F238E27FC236}">
                <a16:creationId xmlns:a16="http://schemas.microsoft.com/office/drawing/2014/main" id="{CAF17DDE-BC7D-D918-3578-E6DED2EFE42D}"/>
              </a:ext>
            </a:extLst>
          </p:cNvPr>
          <p:cNvSpPr txBox="1"/>
          <p:nvPr/>
        </p:nvSpPr>
        <p:spPr>
          <a:xfrm>
            <a:off x="6312872" y="5055926"/>
            <a:ext cx="2508059" cy="646331"/>
          </a:xfrm>
          <a:prstGeom prst="rect">
            <a:avLst/>
          </a:prstGeom>
          <a:noFill/>
        </p:spPr>
        <p:txBody>
          <a:bodyPr wrap="none" rtlCol="0">
            <a:spAutoFit/>
          </a:bodyPr>
          <a:lstStyle/>
          <a:p>
            <a:r>
              <a:rPr lang="en-IN" b="1" i="1" dirty="0">
                <a:solidFill>
                  <a:srgbClr val="FF6600"/>
                </a:solidFill>
                <a:latin typeface="Times New Roman" panose="02020603050405020304" pitchFamily="18" charset="0"/>
                <a:cs typeface="Times New Roman" panose="02020603050405020304" pitchFamily="18" charset="0"/>
              </a:rPr>
              <a:t>Under the Guidance of:</a:t>
            </a:r>
          </a:p>
          <a:p>
            <a:r>
              <a:rPr lang="en-IN" i="1" dirty="0">
                <a:latin typeface="Times New Roman" panose="02020603050405020304" pitchFamily="18" charset="0"/>
                <a:cs typeface="Times New Roman" panose="02020603050405020304" pitchFamily="18" charset="0"/>
              </a:rPr>
              <a:t>Prof. Milind Pawar</a:t>
            </a:r>
          </a:p>
        </p:txBody>
      </p:sp>
    </p:spTree>
    <p:extLst>
      <p:ext uri="{BB962C8B-B14F-4D97-AF65-F5344CB8AC3E}">
        <p14:creationId xmlns:p14="http://schemas.microsoft.com/office/powerpoint/2010/main" val="2978488116"/>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F2B4F8C-E79A-DC8B-7BCE-D74B19081F43}"/>
              </a:ext>
            </a:extLst>
          </p:cNvPr>
          <p:cNvPicPr>
            <a:picLocks noChangeAspect="1"/>
          </p:cNvPicPr>
          <p:nvPr/>
        </p:nvPicPr>
        <p:blipFill>
          <a:blip r:embed="rId2">
            <a:duotone>
              <a:schemeClr val="accent1">
                <a:shade val="45000"/>
                <a:satMod val="135000"/>
              </a:schemeClr>
              <a:prstClr val="white"/>
            </a:duotone>
            <a:extLst>
              <a:ext uri="{BEBA8EAE-BF5A-486C-A8C5-ECC9F3942E4B}">
                <a14:imgProps xmlns:a14="http://schemas.microsoft.com/office/drawing/2010/main">
                  <a14:imgLayer r:embed="rId3">
                    <a14:imgEffect>
                      <a14:artisticPhotocopy/>
                    </a14:imgEffect>
                  </a14:imgLayer>
                </a14:imgProps>
              </a:ext>
              <a:ext uri="{28A0092B-C50C-407E-A947-70E740481C1C}">
                <a14:useLocalDpi xmlns:a14="http://schemas.microsoft.com/office/drawing/2010/main" val="0"/>
              </a:ext>
            </a:extLst>
          </a:blip>
          <a:srcRect l="3585" t="6741" r="2254" b="7199"/>
          <a:stretch>
            <a:fillRect/>
          </a:stretch>
        </p:blipFill>
        <p:spPr>
          <a:xfrm>
            <a:off x="3269974" y="1699485"/>
            <a:ext cx="6261653" cy="3847062"/>
          </a:xfrm>
          <a:prstGeom prst="rect">
            <a:avLst/>
          </a:prstGeom>
        </p:spPr>
      </p:pic>
      <p:sp>
        <p:nvSpPr>
          <p:cNvPr id="2" name="Title 1">
            <a:extLst>
              <a:ext uri="{FF2B5EF4-FFF2-40B4-BE49-F238E27FC236}">
                <a16:creationId xmlns:a16="http://schemas.microsoft.com/office/drawing/2014/main" id="{BF7DEB94-8376-6B89-E389-E170847A3488}"/>
              </a:ext>
            </a:extLst>
          </p:cNvPr>
          <p:cNvSpPr>
            <a:spLocks noGrp="1"/>
          </p:cNvSpPr>
          <p:nvPr>
            <p:ph type="title"/>
          </p:nvPr>
        </p:nvSpPr>
        <p:spPr>
          <a:xfrm>
            <a:off x="399038" y="599661"/>
            <a:ext cx="8596668" cy="983226"/>
          </a:xfrm>
        </p:spPr>
        <p:txBody>
          <a:bodyPr>
            <a:normAutofit/>
          </a:bodyPr>
          <a:lstStyle/>
          <a:p>
            <a:r>
              <a:rPr lang="en-IN" sz="5400" b="1" i="1" dirty="0">
                <a:latin typeface="Gabriola" panose="04040605051002020D02" pitchFamily="82" charset="0"/>
                <a:cs typeface="Times New Roman" panose="02020603050405020304" pitchFamily="18" charset="0"/>
              </a:rPr>
              <a:t>INDEX</a:t>
            </a:r>
          </a:p>
        </p:txBody>
      </p:sp>
      <p:sp>
        <p:nvSpPr>
          <p:cNvPr id="3" name="Content Placeholder 2">
            <a:extLst>
              <a:ext uri="{FF2B5EF4-FFF2-40B4-BE49-F238E27FC236}">
                <a16:creationId xmlns:a16="http://schemas.microsoft.com/office/drawing/2014/main" id="{7119354A-86DD-1EB1-18C3-46B1EDD0A4AF}"/>
              </a:ext>
            </a:extLst>
          </p:cNvPr>
          <p:cNvSpPr>
            <a:spLocks noGrp="1"/>
          </p:cNvSpPr>
          <p:nvPr>
            <p:ph idx="1"/>
          </p:nvPr>
        </p:nvSpPr>
        <p:spPr>
          <a:xfrm>
            <a:off x="399038" y="1699485"/>
            <a:ext cx="3169109" cy="4731132"/>
          </a:xfrm>
        </p:spPr>
        <p:txBody>
          <a:bodyPr>
            <a:normAutofit lnSpcReduction="10000"/>
          </a:bodyPr>
          <a:lstStyle/>
          <a:p>
            <a:r>
              <a:rPr lang="en-IN" sz="2400" i="1" dirty="0">
                <a:solidFill>
                  <a:schemeClr val="tx1"/>
                </a:solidFill>
                <a:latin typeface="Times New Roman" pitchFamily="18" charset="0"/>
                <a:cs typeface="Times New Roman" pitchFamily="18" charset="0"/>
              </a:rPr>
              <a:t>Introduction</a:t>
            </a:r>
          </a:p>
          <a:p>
            <a:r>
              <a:rPr lang="en-IN" sz="2400" i="1" dirty="0">
                <a:solidFill>
                  <a:schemeClr val="tx1"/>
                </a:solidFill>
                <a:latin typeface="Times New Roman" pitchFamily="18" charset="0"/>
                <a:cs typeface="Times New Roman" pitchFamily="18" charset="0"/>
              </a:rPr>
              <a:t>Software Used</a:t>
            </a:r>
          </a:p>
          <a:p>
            <a:r>
              <a:rPr lang="en-IN" sz="2400" i="1" dirty="0">
                <a:solidFill>
                  <a:schemeClr val="tx1"/>
                </a:solidFill>
                <a:latin typeface="Times New Roman" pitchFamily="18" charset="0"/>
                <a:cs typeface="Times New Roman" pitchFamily="18" charset="0"/>
              </a:rPr>
              <a:t>Features</a:t>
            </a:r>
          </a:p>
          <a:p>
            <a:r>
              <a:rPr lang="en-IN" sz="2400" i="1" dirty="0">
                <a:solidFill>
                  <a:schemeClr val="tx1"/>
                </a:solidFill>
                <a:latin typeface="Times New Roman" pitchFamily="18" charset="0"/>
                <a:cs typeface="Times New Roman" pitchFamily="18" charset="0"/>
              </a:rPr>
              <a:t>Scope </a:t>
            </a:r>
          </a:p>
          <a:p>
            <a:r>
              <a:rPr lang="en-IN" sz="2400" i="1" dirty="0">
                <a:solidFill>
                  <a:schemeClr val="tx1"/>
                </a:solidFill>
                <a:latin typeface="Times New Roman" pitchFamily="18" charset="0"/>
                <a:cs typeface="Times New Roman" pitchFamily="18" charset="0"/>
              </a:rPr>
              <a:t>Future Enhancement</a:t>
            </a:r>
          </a:p>
          <a:p>
            <a:r>
              <a:rPr lang="en-IN" sz="2400" i="1" dirty="0">
                <a:solidFill>
                  <a:schemeClr val="tx1"/>
                </a:solidFill>
                <a:latin typeface="Times New Roman" pitchFamily="18" charset="0"/>
                <a:cs typeface="Times New Roman" pitchFamily="18" charset="0"/>
              </a:rPr>
              <a:t>Workflow</a:t>
            </a:r>
          </a:p>
          <a:p>
            <a:r>
              <a:rPr lang="en-IN" sz="2400" i="1" dirty="0">
                <a:solidFill>
                  <a:schemeClr val="tx1"/>
                </a:solidFill>
                <a:latin typeface="Times New Roman" pitchFamily="18" charset="0"/>
                <a:cs typeface="Times New Roman" pitchFamily="18" charset="0"/>
              </a:rPr>
              <a:t>Screenshots</a:t>
            </a:r>
          </a:p>
          <a:p>
            <a:r>
              <a:rPr lang="en-IN" sz="2400" i="1" dirty="0">
                <a:solidFill>
                  <a:schemeClr val="tx1"/>
                </a:solidFill>
                <a:latin typeface="Times New Roman" pitchFamily="18" charset="0"/>
                <a:cs typeface="Times New Roman" pitchFamily="18" charset="0"/>
              </a:rPr>
              <a:t>DFD Diagram</a:t>
            </a:r>
          </a:p>
          <a:p>
            <a:r>
              <a:rPr lang="en-IN" sz="2400" i="1" dirty="0">
                <a:solidFill>
                  <a:schemeClr val="tx1"/>
                </a:solidFill>
                <a:latin typeface="Times New Roman" pitchFamily="18" charset="0"/>
                <a:cs typeface="Times New Roman" pitchFamily="18" charset="0"/>
              </a:rPr>
              <a:t>ER Diagram</a:t>
            </a:r>
          </a:p>
          <a:p>
            <a:r>
              <a:rPr lang="en-IN" sz="2400" i="1" dirty="0">
                <a:solidFill>
                  <a:schemeClr val="tx1"/>
                </a:solidFill>
                <a:latin typeface="Times New Roman" pitchFamily="18" charset="0"/>
                <a:cs typeface="Times New Roman" pitchFamily="18" charset="0"/>
              </a:rPr>
              <a:t>Conclusion</a:t>
            </a:r>
          </a:p>
        </p:txBody>
      </p:sp>
    </p:spTree>
    <p:extLst>
      <p:ext uri="{BB962C8B-B14F-4D97-AF65-F5344CB8AC3E}">
        <p14:creationId xmlns:p14="http://schemas.microsoft.com/office/powerpoint/2010/main" val="598474439"/>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90AD68-C451-3B4F-21BF-745EB8A78666}"/>
              </a:ext>
            </a:extLst>
          </p:cNvPr>
          <p:cNvSpPr>
            <a:spLocks noGrp="1"/>
          </p:cNvSpPr>
          <p:nvPr>
            <p:ph type="title"/>
          </p:nvPr>
        </p:nvSpPr>
        <p:spPr>
          <a:xfrm>
            <a:off x="661150" y="601508"/>
            <a:ext cx="8596668" cy="953729"/>
          </a:xfrm>
        </p:spPr>
        <p:txBody>
          <a:bodyPr>
            <a:normAutofit/>
          </a:bodyPr>
          <a:lstStyle/>
          <a:p>
            <a:pPr algn="ctr"/>
            <a:r>
              <a:rPr lang="en-IN" sz="4400" b="1" i="1" dirty="0">
                <a:latin typeface="Gabriola" pitchFamily="82" charset="0"/>
              </a:rPr>
              <a:t>Introduction</a:t>
            </a:r>
          </a:p>
        </p:txBody>
      </p:sp>
      <p:sp>
        <p:nvSpPr>
          <p:cNvPr id="3" name="Content Placeholder 2">
            <a:extLst>
              <a:ext uri="{FF2B5EF4-FFF2-40B4-BE49-F238E27FC236}">
                <a16:creationId xmlns:a16="http://schemas.microsoft.com/office/drawing/2014/main" id="{C06AC159-D1F1-646B-D4D5-479091CF108D}"/>
              </a:ext>
            </a:extLst>
          </p:cNvPr>
          <p:cNvSpPr>
            <a:spLocks noGrp="1"/>
          </p:cNvSpPr>
          <p:nvPr>
            <p:ph idx="1"/>
          </p:nvPr>
        </p:nvSpPr>
        <p:spPr>
          <a:xfrm>
            <a:off x="1405617" y="1603789"/>
            <a:ext cx="7591595" cy="4876800"/>
          </a:xfrm>
        </p:spPr>
        <p:txBody>
          <a:bodyPr>
            <a:normAutofit/>
          </a:bodyPr>
          <a:lstStyle/>
          <a:p>
            <a:pPr marL="0" indent="0">
              <a:lnSpc>
                <a:spcPct val="150000"/>
              </a:lnSpc>
              <a:buNone/>
            </a:pPr>
            <a:r>
              <a:rPr lang="en-IN" sz="2000" i="1" dirty="0">
                <a:solidFill>
                  <a:schemeClr val="tx1"/>
                </a:solidFill>
                <a:latin typeface="Times New Roman" pitchFamily="18" charset="0"/>
                <a:cs typeface="Times New Roman" pitchFamily="18" charset="0"/>
              </a:rPr>
              <a:t>“ServeKind” is a compassionate and technology-driven donation platform dedicated to connecting those who have with those in need. Designed to make the act of giving simple, transparent, and impactful, ServeKind enables individuals, organizations, and communities to contribute food easily through an organized and secure system. Whether it’s surplus food from events, restaurants, or homes, ServeKind ensures that every contribution reaches the right hands at the right time. With a clean interface, smart donation modes, and seamless communication between donors and volunteers, the platform empowers people to fight hunger one meal at a time.</a:t>
            </a:r>
          </a:p>
        </p:txBody>
      </p:sp>
    </p:spTree>
    <p:extLst>
      <p:ext uri="{BB962C8B-B14F-4D97-AF65-F5344CB8AC3E}">
        <p14:creationId xmlns:p14="http://schemas.microsoft.com/office/powerpoint/2010/main" val="1665811202"/>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C19F8F-799C-362D-7F4B-5C0FC250F250}"/>
              </a:ext>
            </a:extLst>
          </p:cNvPr>
          <p:cNvSpPr>
            <a:spLocks noGrp="1"/>
          </p:cNvSpPr>
          <p:nvPr>
            <p:ph type="title"/>
          </p:nvPr>
        </p:nvSpPr>
        <p:spPr>
          <a:xfrm>
            <a:off x="677334" y="609600"/>
            <a:ext cx="8596668" cy="707923"/>
          </a:xfrm>
        </p:spPr>
        <p:txBody>
          <a:bodyPr>
            <a:noAutofit/>
          </a:bodyPr>
          <a:lstStyle/>
          <a:p>
            <a:r>
              <a:rPr lang="en-IN" sz="4000" b="1" i="1" dirty="0">
                <a:latin typeface="Gabriola" pitchFamily="82" charset="0"/>
              </a:rPr>
              <a:t>Software  Used:</a:t>
            </a:r>
            <a:br>
              <a:rPr lang="en-IN" sz="4000" b="1" i="1" dirty="0">
                <a:latin typeface="Gabriola" pitchFamily="82" charset="0"/>
              </a:rPr>
            </a:br>
            <a:endParaRPr lang="en-IN" sz="4000" b="1" i="1" dirty="0">
              <a:latin typeface="Gabriola" pitchFamily="82" charset="0"/>
            </a:endParaRPr>
          </a:p>
        </p:txBody>
      </p:sp>
      <p:graphicFrame>
        <p:nvGraphicFramePr>
          <p:cNvPr id="4" name="Content Placeholder 3">
            <a:extLst>
              <a:ext uri="{FF2B5EF4-FFF2-40B4-BE49-F238E27FC236}">
                <a16:creationId xmlns:a16="http://schemas.microsoft.com/office/drawing/2014/main" id="{58D73607-C6AB-254F-A64D-B777973C0482}"/>
              </a:ext>
            </a:extLst>
          </p:cNvPr>
          <p:cNvGraphicFramePr>
            <a:graphicFrameLocks noGrp="1"/>
          </p:cNvGraphicFramePr>
          <p:nvPr>
            <p:ph idx="1"/>
            <p:extLst>
              <p:ext uri="{D42A27DB-BD31-4B8C-83A1-F6EECF244321}">
                <p14:modId xmlns:p14="http://schemas.microsoft.com/office/powerpoint/2010/main" val="2488630137"/>
              </p:ext>
            </p:extLst>
          </p:nvPr>
        </p:nvGraphicFramePr>
        <p:xfrm>
          <a:off x="677334" y="1317522"/>
          <a:ext cx="8004550" cy="4699819"/>
        </p:xfrm>
        <a:graphic>
          <a:graphicData uri="http://schemas.openxmlformats.org/drawingml/2006/table">
            <a:tbl>
              <a:tblPr firstRow="1" firstCol="1" bandRow="1">
                <a:tableStyleId>{B301B821-A1FF-4177-AEE7-76D212191A09}</a:tableStyleId>
              </a:tblPr>
              <a:tblGrid>
                <a:gridCol w="2817431">
                  <a:extLst>
                    <a:ext uri="{9D8B030D-6E8A-4147-A177-3AD203B41FA5}">
                      <a16:colId xmlns:a16="http://schemas.microsoft.com/office/drawing/2014/main" val="3584904874"/>
                    </a:ext>
                  </a:extLst>
                </a:gridCol>
                <a:gridCol w="5187119">
                  <a:extLst>
                    <a:ext uri="{9D8B030D-6E8A-4147-A177-3AD203B41FA5}">
                      <a16:colId xmlns:a16="http://schemas.microsoft.com/office/drawing/2014/main" val="3976443681"/>
                    </a:ext>
                  </a:extLst>
                </a:gridCol>
              </a:tblGrid>
              <a:tr h="660020">
                <a:tc>
                  <a:txBody>
                    <a:bodyPr/>
                    <a:lstStyle/>
                    <a:p>
                      <a:pPr>
                        <a:lnSpc>
                          <a:spcPct val="150000"/>
                        </a:lnSpc>
                        <a:spcAft>
                          <a:spcPts val="800"/>
                        </a:spcAft>
                        <a:buNone/>
                      </a:pPr>
                      <a:r>
                        <a:rPr lang="en-IN" sz="2000" i="1" kern="100" dirty="0">
                          <a:solidFill>
                            <a:schemeClr val="tx1"/>
                          </a:solidFill>
                          <a:effectLst/>
                          <a:latin typeface="Times New Roman" pitchFamily="18" charset="0"/>
                          <a:cs typeface="Times New Roman" pitchFamily="18" charset="0"/>
                        </a:rPr>
                        <a:t>Language  </a:t>
                      </a:r>
                      <a:endParaRPr lang="en-IN" sz="1200" i="1" kern="100" dirty="0">
                        <a:solidFill>
                          <a:schemeClr val="tx1"/>
                        </a:solidFill>
                        <a:effectLst/>
                        <a:latin typeface="Times New Roman" pitchFamily="18" charset="0"/>
                        <a:ea typeface="Calibri" panose="020F0502020204030204" pitchFamily="34" charset="0"/>
                        <a:cs typeface="Times New Roman" pitchFamily="18" charset="0"/>
                      </a:endParaRPr>
                    </a:p>
                  </a:txBody>
                  <a:tcPr marL="67310" marR="76200" marT="6413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50000"/>
                        </a:lnSpc>
                        <a:spcAft>
                          <a:spcPts val="800"/>
                        </a:spcAft>
                        <a:buNone/>
                      </a:pPr>
                      <a:r>
                        <a:rPr lang="en-IN" sz="2000" b="0" i="1" kern="100" dirty="0">
                          <a:solidFill>
                            <a:schemeClr val="tx1"/>
                          </a:solidFill>
                          <a:effectLst/>
                          <a:latin typeface="Times New Roman" pitchFamily="18" charset="0"/>
                          <a:cs typeface="Times New Roman" pitchFamily="18" charset="0"/>
                        </a:rPr>
                        <a:t>HTML, JavaScript, CSS </a:t>
                      </a:r>
                      <a:endParaRPr lang="en-IN" sz="1200" b="0" i="1" kern="100" dirty="0">
                        <a:solidFill>
                          <a:schemeClr val="tx1"/>
                        </a:solidFill>
                        <a:effectLst/>
                        <a:latin typeface="Times New Roman" pitchFamily="18" charset="0"/>
                        <a:ea typeface="Calibri" panose="020F0502020204030204" pitchFamily="34" charset="0"/>
                        <a:cs typeface="Times New Roman" pitchFamily="18" charset="0"/>
                      </a:endParaRPr>
                    </a:p>
                  </a:txBody>
                  <a:tcPr marL="67310" marR="76200" marT="6413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83776342"/>
                  </a:ext>
                </a:extLst>
              </a:tr>
              <a:tr h="645281">
                <a:tc>
                  <a:txBody>
                    <a:bodyPr/>
                    <a:lstStyle/>
                    <a:p>
                      <a:pPr>
                        <a:lnSpc>
                          <a:spcPct val="150000"/>
                        </a:lnSpc>
                        <a:spcAft>
                          <a:spcPts val="800"/>
                        </a:spcAft>
                        <a:buNone/>
                      </a:pPr>
                      <a:r>
                        <a:rPr lang="en-IN" sz="2000" i="1" kern="100" dirty="0">
                          <a:solidFill>
                            <a:schemeClr val="tx1"/>
                          </a:solidFill>
                          <a:effectLst/>
                          <a:latin typeface="Times New Roman" pitchFamily="18" charset="0"/>
                          <a:cs typeface="Times New Roman" pitchFamily="18" charset="0"/>
                        </a:rPr>
                        <a:t>Operating System </a:t>
                      </a:r>
                      <a:endParaRPr lang="en-IN" sz="1200" i="1" kern="100" dirty="0">
                        <a:solidFill>
                          <a:schemeClr val="tx1"/>
                        </a:solidFill>
                        <a:effectLst/>
                        <a:latin typeface="Times New Roman" pitchFamily="18" charset="0"/>
                        <a:ea typeface="Calibri" panose="020F0502020204030204" pitchFamily="34" charset="0"/>
                        <a:cs typeface="Times New Roman" pitchFamily="18" charset="0"/>
                      </a:endParaRPr>
                    </a:p>
                  </a:txBody>
                  <a:tcPr marL="67310" marR="76200" marT="6413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spcAft>
                          <a:spcPts val="800"/>
                        </a:spcAft>
                        <a:buNone/>
                      </a:pPr>
                      <a:r>
                        <a:rPr lang="en-IN" sz="2000" i="1" kern="100" dirty="0">
                          <a:solidFill>
                            <a:schemeClr val="tx1"/>
                          </a:solidFill>
                          <a:effectLst/>
                          <a:latin typeface="Times New Roman" pitchFamily="18" charset="0"/>
                          <a:cs typeface="Times New Roman" pitchFamily="18" charset="0"/>
                        </a:rPr>
                        <a:t>Windows 11 </a:t>
                      </a:r>
                      <a:endParaRPr lang="en-IN" sz="1200" i="1" kern="100" dirty="0">
                        <a:solidFill>
                          <a:schemeClr val="tx1"/>
                        </a:solidFill>
                        <a:effectLst/>
                        <a:latin typeface="Times New Roman" pitchFamily="18" charset="0"/>
                        <a:ea typeface="Calibri" panose="020F0502020204030204" pitchFamily="34" charset="0"/>
                        <a:cs typeface="Times New Roman" pitchFamily="18" charset="0"/>
                      </a:endParaRPr>
                    </a:p>
                  </a:txBody>
                  <a:tcPr marL="67310" marR="76200" marT="6413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66659786"/>
                  </a:ext>
                </a:extLst>
              </a:tr>
              <a:tr h="812218">
                <a:tc>
                  <a:txBody>
                    <a:bodyPr/>
                    <a:lstStyle/>
                    <a:p>
                      <a:pPr>
                        <a:lnSpc>
                          <a:spcPct val="150000"/>
                        </a:lnSpc>
                        <a:spcAft>
                          <a:spcPts val="800"/>
                        </a:spcAft>
                        <a:buNone/>
                      </a:pPr>
                      <a:r>
                        <a:rPr lang="en-IN" sz="2000" i="1" kern="100" dirty="0">
                          <a:solidFill>
                            <a:schemeClr val="tx1"/>
                          </a:solidFill>
                          <a:effectLst/>
                          <a:latin typeface="Times New Roman" pitchFamily="18" charset="0"/>
                          <a:cs typeface="Times New Roman" pitchFamily="18" charset="0"/>
                        </a:rPr>
                        <a:t>Server </a:t>
                      </a:r>
                      <a:endParaRPr lang="en-IN" sz="1200" i="1" kern="100" dirty="0">
                        <a:solidFill>
                          <a:schemeClr val="tx1"/>
                        </a:solidFill>
                        <a:effectLst/>
                        <a:latin typeface="Times New Roman" pitchFamily="18" charset="0"/>
                        <a:ea typeface="Calibri" panose="020F0502020204030204" pitchFamily="34" charset="0"/>
                        <a:cs typeface="Times New Roman" pitchFamily="18" charset="0"/>
                      </a:endParaRPr>
                    </a:p>
                  </a:txBody>
                  <a:tcPr marL="67310" marR="76200" marT="6413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spcAft>
                          <a:spcPts val="800"/>
                        </a:spcAft>
                        <a:buNone/>
                      </a:pPr>
                      <a:r>
                        <a:rPr lang="en-IN" sz="2000" i="1" kern="100" dirty="0">
                          <a:solidFill>
                            <a:schemeClr val="tx1"/>
                          </a:solidFill>
                          <a:effectLst/>
                          <a:latin typeface="Times New Roman" pitchFamily="18" charset="0"/>
                          <a:cs typeface="Times New Roman" pitchFamily="18" charset="0"/>
                        </a:rPr>
                        <a:t>Xampp </a:t>
                      </a:r>
                      <a:endParaRPr lang="en-IN" sz="1200" i="1" kern="100" dirty="0">
                        <a:solidFill>
                          <a:schemeClr val="tx1"/>
                        </a:solidFill>
                        <a:effectLst/>
                        <a:latin typeface="Times New Roman" pitchFamily="18" charset="0"/>
                        <a:ea typeface="Calibri" panose="020F0502020204030204" pitchFamily="34" charset="0"/>
                        <a:cs typeface="Times New Roman" pitchFamily="18" charset="0"/>
                      </a:endParaRPr>
                    </a:p>
                  </a:txBody>
                  <a:tcPr marL="67310" marR="76200" marT="6413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0948177"/>
                  </a:ext>
                </a:extLst>
              </a:tr>
              <a:tr h="577971">
                <a:tc>
                  <a:txBody>
                    <a:bodyPr/>
                    <a:lstStyle/>
                    <a:p>
                      <a:pPr>
                        <a:lnSpc>
                          <a:spcPct val="150000"/>
                        </a:lnSpc>
                        <a:spcAft>
                          <a:spcPts val="800"/>
                        </a:spcAft>
                        <a:buNone/>
                      </a:pPr>
                      <a:r>
                        <a:rPr lang="en-IN" sz="2000" i="1" kern="100" dirty="0">
                          <a:solidFill>
                            <a:schemeClr val="tx1"/>
                          </a:solidFill>
                          <a:effectLst/>
                          <a:latin typeface="Times New Roman" pitchFamily="18" charset="0"/>
                          <a:cs typeface="Times New Roman" pitchFamily="18" charset="0"/>
                        </a:rPr>
                        <a:t>Web Browser  </a:t>
                      </a:r>
                      <a:endParaRPr lang="en-IN" sz="1200" i="1" kern="100" dirty="0">
                        <a:solidFill>
                          <a:schemeClr val="tx1"/>
                        </a:solidFill>
                        <a:effectLst/>
                        <a:latin typeface="Times New Roman" pitchFamily="18" charset="0"/>
                        <a:ea typeface="Calibri" panose="020F0502020204030204" pitchFamily="34" charset="0"/>
                        <a:cs typeface="Times New Roman" pitchFamily="18" charset="0"/>
                      </a:endParaRPr>
                    </a:p>
                  </a:txBody>
                  <a:tcPr marL="67310" marR="76200" marT="6413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spcAft>
                          <a:spcPts val="800"/>
                        </a:spcAft>
                        <a:buNone/>
                      </a:pPr>
                      <a:r>
                        <a:rPr lang="en-IN" sz="2000" i="1" kern="100" dirty="0">
                          <a:solidFill>
                            <a:schemeClr val="tx1"/>
                          </a:solidFill>
                          <a:effectLst/>
                          <a:latin typeface="Times New Roman" pitchFamily="18" charset="0"/>
                          <a:cs typeface="Times New Roman" pitchFamily="18" charset="0"/>
                        </a:rPr>
                        <a:t>Chrome, Microsoft Edge  </a:t>
                      </a:r>
                      <a:endParaRPr lang="en-IN" sz="1200" i="1" kern="100" dirty="0">
                        <a:solidFill>
                          <a:schemeClr val="tx1"/>
                        </a:solidFill>
                        <a:effectLst/>
                        <a:latin typeface="Times New Roman" pitchFamily="18" charset="0"/>
                        <a:ea typeface="Calibri" panose="020F0502020204030204" pitchFamily="34" charset="0"/>
                        <a:cs typeface="Times New Roman" pitchFamily="18" charset="0"/>
                      </a:endParaRPr>
                    </a:p>
                  </a:txBody>
                  <a:tcPr marL="67310" marR="76200" marT="6413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5665630"/>
                  </a:ext>
                </a:extLst>
              </a:tr>
              <a:tr h="807939">
                <a:tc>
                  <a:txBody>
                    <a:bodyPr/>
                    <a:lstStyle/>
                    <a:p>
                      <a:pPr>
                        <a:lnSpc>
                          <a:spcPct val="150000"/>
                        </a:lnSpc>
                        <a:spcAft>
                          <a:spcPts val="800"/>
                        </a:spcAft>
                        <a:buNone/>
                      </a:pPr>
                      <a:r>
                        <a:rPr lang="en-IN" sz="2000" i="1" kern="100" dirty="0">
                          <a:solidFill>
                            <a:schemeClr val="tx1"/>
                          </a:solidFill>
                          <a:effectLst/>
                          <a:latin typeface="Times New Roman" pitchFamily="18" charset="0"/>
                          <a:cs typeface="Times New Roman" pitchFamily="18" charset="0"/>
                        </a:rPr>
                        <a:t>Designing Tool </a:t>
                      </a:r>
                      <a:endParaRPr lang="en-IN" sz="1200" i="1" kern="100" dirty="0">
                        <a:solidFill>
                          <a:schemeClr val="tx1"/>
                        </a:solidFill>
                        <a:effectLst/>
                        <a:latin typeface="Times New Roman" pitchFamily="18" charset="0"/>
                        <a:ea typeface="Calibri" panose="020F0502020204030204" pitchFamily="34" charset="0"/>
                        <a:cs typeface="Times New Roman" pitchFamily="18" charset="0"/>
                      </a:endParaRPr>
                    </a:p>
                  </a:txBody>
                  <a:tcPr marL="67310" marR="76200" marT="6413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spcAft>
                          <a:spcPts val="800"/>
                        </a:spcAft>
                        <a:buNone/>
                      </a:pPr>
                      <a:r>
                        <a:rPr lang="en-IN" sz="2000" i="1" kern="100" dirty="0">
                          <a:solidFill>
                            <a:schemeClr val="tx1"/>
                          </a:solidFill>
                          <a:effectLst/>
                          <a:latin typeface="Times New Roman" pitchFamily="18" charset="0"/>
                          <a:cs typeface="Times New Roman" pitchFamily="18" charset="0"/>
                        </a:rPr>
                        <a:t>Visual Studio Code </a:t>
                      </a:r>
                      <a:endParaRPr lang="en-IN" sz="1200" i="1" kern="100" dirty="0">
                        <a:solidFill>
                          <a:schemeClr val="tx1"/>
                        </a:solidFill>
                        <a:effectLst/>
                        <a:latin typeface="Times New Roman" pitchFamily="18" charset="0"/>
                        <a:ea typeface="Calibri" panose="020F0502020204030204" pitchFamily="34" charset="0"/>
                        <a:cs typeface="Times New Roman" pitchFamily="18" charset="0"/>
                      </a:endParaRPr>
                    </a:p>
                  </a:txBody>
                  <a:tcPr marL="67310" marR="76200" marT="6413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40906608"/>
                  </a:ext>
                </a:extLst>
              </a:tr>
              <a:tr h="1196390">
                <a:tc>
                  <a:txBody>
                    <a:bodyPr/>
                    <a:lstStyle/>
                    <a:p>
                      <a:pPr>
                        <a:lnSpc>
                          <a:spcPct val="150000"/>
                        </a:lnSpc>
                        <a:spcAft>
                          <a:spcPts val="800"/>
                        </a:spcAft>
                        <a:buNone/>
                      </a:pPr>
                      <a:r>
                        <a:rPr lang="en-IN" sz="2000" i="1" kern="100" dirty="0">
                          <a:solidFill>
                            <a:schemeClr val="tx1"/>
                          </a:solidFill>
                          <a:effectLst/>
                          <a:latin typeface="Times New Roman" pitchFamily="18" charset="0"/>
                          <a:cs typeface="Times New Roman" pitchFamily="18" charset="0"/>
                        </a:rPr>
                        <a:t>Server-Side Scripting </a:t>
                      </a:r>
                      <a:endParaRPr lang="en-IN" sz="1200" i="1" kern="100" dirty="0">
                        <a:solidFill>
                          <a:schemeClr val="tx1"/>
                        </a:solidFill>
                        <a:effectLst/>
                        <a:latin typeface="Times New Roman" pitchFamily="18" charset="0"/>
                        <a:ea typeface="Calibri" panose="020F0502020204030204" pitchFamily="34" charset="0"/>
                        <a:cs typeface="Times New Roman" pitchFamily="18" charset="0"/>
                      </a:endParaRPr>
                    </a:p>
                  </a:txBody>
                  <a:tcPr marL="67310" marR="76200" marT="6413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spcAft>
                          <a:spcPts val="800"/>
                        </a:spcAft>
                        <a:buNone/>
                      </a:pPr>
                      <a:r>
                        <a:rPr lang="en-IN" sz="2000" i="1" kern="100" dirty="0">
                          <a:solidFill>
                            <a:schemeClr val="tx1"/>
                          </a:solidFill>
                          <a:effectLst/>
                          <a:latin typeface="Times New Roman" pitchFamily="18" charset="0"/>
                          <a:cs typeface="Times New Roman" pitchFamily="18" charset="0"/>
                        </a:rPr>
                        <a:t>PHP and </a:t>
                      </a:r>
                      <a:r>
                        <a:rPr lang="en-IN" sz="2000" i="1" kern="100" dirty="0" err="1">
                          <a:solidFill>
                            <a:schemeClr val="tx1"/>
                          </a:solidFill>
                          <a:effectLst/>
                          <a:latin typeface="Times New Roman" pitchFamily="18" charset="0"/>
                          <a:cs typeface="Times New Roman" pitchFamily="18" charset="0"/>
                        </a:rPr>
                        <a:t>MySql</a:t>
                      </a:r>
                      <a:endParaRPr lang="en-IN" sz="1200" i="1" kern="100" dirty="0">
                        <a:solidFill>
                          <a:schemeClr val="tx1"/>
                        </a:solidFill>
                        <a:effectLst/>
                        <a:latin typeface="Times New Roman" pitchFamily="18" charset="0"/>
                        <a:ea typeface="Calibri" panose="020F0502020204030204" pitchFamily="34" charset="0"/>
                        <a:cs typeface="Times New Roman" pitchFamily="18" charset="0"/>
                      </a:endParaRPr>
                    </a:p>
                  </a:txBody>
                  <a:tcPr marL="67310" marR="76200" marT="6413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67887440"/>
                  </a:ext>
                </a:extLst>
              </a:tr>
            </a:tbl>
          </a:graphicData>
        </a:graphic>
      </p:graphicFrame>
    </p:spTree>
    <p:extLst>
      <p:ext uri="{BB962C8B-B14F-4D97-AF65-F5344CB8AC3E}">
        <p14:creationId xmlns:p14="http://schemas.microsoft.com/office/powerpoint/2010/main" val="2024894784"/>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C7D3A7-0105-1B91-CCAC-56E689E6533A}"/>
              </a:ext>
            </a:extLst>
          </p:cNvPr>
          <p:cNvSpPr>
            <a:spLocks noGrp="1"/>
          </p:cNvSpPr>
          <p:nvPr>
            <p:ph type="title"/>
          </p:nvPr>
        </p:nvSpPr>
        <p:spPr>
          <a:xfrm>
            <a:off x="254547" y="221226"/>
            <a:ext cx="8596668" cy="668594"/>
          </a:xfrm>
        </p:spPr>
        <p:txBody>
          <a:bodyPr>
            <a:noAutofit/>
          </a:bodyPr>
          <a:lstStyle/>
          <a:p>
            <a:pPr algn="ctr"/>
            <a:r>
              <a:rPr lang="en-IN" sz="4000" b="1" i="1" dirty="0">
                <a:latin typeface="Gabriola" pitchFamily="82" charset="0"/>
              </a:rPr>
              <a:t>Main  Advantages of   ServeKind</a:t>
            </a:r>
          </a:p>
        </p:txBody>
      </p:sp>
      <p:sp>
        <p:nvSpPr>
          <p:cNvPr id="3" name="Content Placeholder 2">
            <a:extLst>
              <a:ext uri="{FF2B5EF4-FFF2-40B4-BE49-F238E27FC236}">
                <a16:creationId xmlns:a16="http://schemas.microsoft.com/office/drawing/2014/main" id="{84903145-228C-8B0E-BBF5-E67459E90998}"/>
              </a:ext>
            </a:extLst>
          </p:cNvPr>
          <p:cNvSpPr>
            <a:spLocks noGrp="1"/>
          </p:cNvSpPr>
          <p:nvPr>
            <p:ph idx="1"/>
          </p:nvPr>
        </p:nvSpPr>
        <p:spPr>
          <a:xfrm>
            <a:off x="254547" y="1335186"/>
            <a:ext cx="8968111" cy="4878801"/>
          </a:xfrm>
        </p:spPr>
        <p:txBody>
          <a:bodyPr>
            <a:noAutofit/>
          </a:bodyPr>
          <a:lstStyle/>
          <a:p>
            <a:pPr lvl="0"/>
            <a:r>
              <a:rPr lang="en-IN" i="1" dirty="0">
                <a:solidFill>
                  <a:schemeClr val="tx1"/>
                </a:solidFill>
                <a:latin typeface="Times New Roman" pitchFamily="18" charset="0"/>
                <a:cs typeface="Times New Roman" pitchFamily="18" charset="0"/>
              </a:rPr>
              <a:t>User-Friendly Interface: Clean and intuitive design allowing donors, recipients, and volunteers to navigate and participate effortlessly.</a:t>
            </a:r>
          </a:p>
          <a:p>
            <a:pPr lvl="0"/>
            <a:r>
              <a:rPr lang="en-IN" i="1" dirty="0">
                <a:solidFill>
                  <a:schemeClr val="tx1"/>
                </a:solidFill>
                <a:latin typeface="Times New Roman" pitchFamily="18" charset="0"/>
                <a:cs typeface="Times New Roman" pitchFamily="18" charset="0"/>
              </a:rPr>
              <a:t>Secure Access: Authentication-based login ensures verified donations and safe participation for all users.</a:t>
            </a:r>
          </a:p>
          <a:p>
            <a:pPr lvl="0"/>
            <a:r>
              <a:rPr lang="en-IN" i="1" dirty="0">
                <a:solidFill>
                  <a:schemeClr val="tx1"/>
                </a:solidFill>
                <a:latin typeface="Times New Roman" pitchFamily="18" charset="0"/>
                <a:cs typeface="Times New Roman" pitchFamily="18" charset="0"/>
              </a:rPr>
              <a:t>Multiple Donation Options: Support through monetary donations, food contributions, or volunteer services, making it easy for anyone to help in their own way.</a:t>
            </a:r>
          </a:p>
          <a:p>
            <a:pPr lvl="0"/>
            <a:r>
              <a:rPr lang="en-IN" i="1" dirty="0">
                <a:solidFill>
                  <a:schemeClr val="tx1"/>
                </a:solidFill>
                <a:latin typeface="Times New Roman" pitchFamily="18" charset="0"/>
                <a:cs typeface="Times New Roman" pitchFamily="18" charset="0"/>
              </a:rPr>
              <a:t>Real-Time Updates: Track donations, view status updates, and receive notifications about ongoing drives or new campaigns.</a:t>
            </a:r>
          </a:p>
          <a:p>
            <a:pPr lvl="0"/>
            <a:r>
              <a:rPr lang="en-IN" i="1" dirty="0">
                <a:solidFill>
                  <a:schemeClr val="tx1"/>
                </a:solidFill>
                <a:latin typeface="Times New Roman" pitchFamily="18" charset="0"/>
                <a:cs typeface="Times New Roman" pitchFamily="18" charset="0"/>
              </a:rPr>
              <a:t>Interactive &amp; Inspiring Design: Engaging visuals and dynamic layout that reflect kindness, community, and hope.</a:t>
            </a:r>
          </a:p>
          <a:p>
            <a:pPr lvl="0"/>
            <a:r>
              <a:rPr lang="en-IN" i="1" dirty="0">
                <a:solidFill>
                  <a:schemeClr val="tx1"/>
                </a:solidFill>
                <a:latin typeface="Times New Roman" pitchFamily="18" charset="0"/>
                <a:cs typeface="Times New Roman" pitchFamily="18" charset="0"/>
              </a:rPr>
              <a:t>Volunteer Engagement: Dedicated volunteer registration and task allocation system to ensure organized food distribution.</a:t>
            </a:r>
          </a:p>
          <a:p>
            <a:pPr lvl="0"/>
            <a:r>
              <a:rPr lang="en-IN" i="1" dirty="0">
                <a:solidFill>
                  <a:schemeClr val="tx1"/>
                </a:solidFill>
                <a:latin typeface="Times New Roman" pitchFamily="18" charset="0"/>
                <a:cs typeface="Times New Roman" pitchFamily="18" charset="0"/>
              </a:rPr>
              <a:t>Responsive &amp; Accessible Platform: Works smoothly across devices, enabling people to donate or volunteer anytime, anywhere.</a:t>
            </a:r>
          </a:p>
          <a:p>
            <a:endParaRPr lang="en-IN" sz="1050" i="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17042203"/>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CAAE15-8489-909A-C531-228CD6DAC600}"/>
              </a:ext>
            </a:extLst>
          </p:cNvPr>
          <p:cNvSpPr>
            <a:spLocks noGrp="1"/>
          </p:cNvSpPr>
          <p:nvPr>
            <p:ph type="title"/>
          </p:nvPr>
        </p:nvSpPr>
        <p:spPr>
          <a:xfrm>
            <a:off x="677334" y="609600"/>
            <a:ext cx="8596668" cy="762000"/>
          </a:xfrm>
        </p:spPr>
        <p:txBody>
          <a:bodyPr>
            <a:normAutofit/>
          </a:bodyPr>
          <a:lstStyle/>
          <a:p>
            <a:pPr algn="ctr"/>
            <a:r>
              <a:rPr lang="en-US" sz="4000" b="1" i="1" dirty="0">
                <a:latin typeface="Gabriola" pitchFamily="82" charset="0"/>
              </a:rPr>
              <a:t>Features  of  Websites</a:t>
            </a:r>
          </a:p>
        </p:txBody>
      </p:sp>
      <p:sp>
        <p:nvSpPr>
          <p:cNvPr id="3" name="Content Placeholder 2">
            <a:extLst>
              <a:ext uri="{FF2B5EF4-FFF2-40B4-BE49-F238E27FC236}">
                <a16:creationId xmlns:a16="http://schemas.microsoft.com/office/drawing/2014/main" id="{AC85BE5C-0C40-4D3F-3A99-40477373BAAB}"/>
              </a:ext>
            </a:extLst>
          </p:cNvPr>
          <p:cNvSpPr>
            <a:spLocks noGrp="1"/>
          </p:cNvSpPr>
          <p:nvPr>
            <p:ph sz="half" idx="1"/>
          </p:nvPr>
        </p:nvSpPr>
        <p:spPr>
          <a:xfrm>
            <a:off x="485604" y="1712662"/>
            <a:ext cx="4184035" cy="4432500"/>
          </a:xfrm>
        </p:spPr>
        <p:txBody>
          <a:bodyPr>
            <a:normAutofit/>
          </a:bodyPr>
          <a:lstStyle/>
          <a:p>
            <a:pPr marL="0" indent="0">
              <a:buNone/>
            </a:pPr>
            <a:r>
              <a:rPr lang="en-US" sz="2400" i="1" dirty="0">
                <a:solidFill>
                  <a:schemeClr val="accent1">
                    <a:lumMod val="75000"/>
                  </a:schemeClr>
                </a:solidFill>
                <a:latin typeface="Times New Roman" pitchFamily="18" charset="0"/>
                <a:cs typeface="Times New Roman" pitchFamily="18" charset="0"/>
              </a:rPr>
              <a:t>User Side</a:t>
            </a:r>
          </a:p>
          <a:p>
            <a:pPr>
              <a:buFont typeface="Courier New" panose="02070309020205020404" pitchFamily="49" charset="0"/>
              <a:buChar char="o"/>
            </a:pPr>
            <a:r>
              <a:rPr lang="en-US" sz="2000" i="1" dirty="0">
                <a:solidFill>
                  <a:schemeClr val="tx1"/>
                </a:solidFill>
                <a:latin typeface="Times New Roman" pitchFamily="18" charset="0"/>
                <a:cs typeface="Times New Roman" pitchFamily="18" charset="0"/>
              </a:rPr>
              <a:t>Login/Signup</a:t>
            </a:r>
          </a:p>
          <a:p>
            <a:pPr>
              <a:buFont typeface="Courier New" panose="02070309020205020404" pitchFamily="49" charset="0"/>
              <a:buChar char="o"/>
            </a:pPr>
            <a:r>
              <a:rPr lang="en-US" sz="2000" i="1" dirty="0">
                <a:solidFill>
                  <a:schemeClr val="tx1"/>
                </a:solidFill>
                <a:latin typeface="Times New Roman" pitchFamily="18" charset="0"/>
                <a:cs typeface="Times New Roman" pitchFamily="18" charset="0"/>
              </a:rPr>
              <a:t>View/read blogs &amp; stories</a:t>
            </a:r>
          </a:p>
          <a:p>
            <a:pPr>
              <a:buFont typeface="Courier New" panose="02070309020205020404" pitchFamily="49" charset="0"/>
              <a:buChar char="o"/>
            </a:pPr>
            <a:r>
              <a:rPr lang="en-US" sz="2000" i="1" dirty="0">
                <a:solidFill>
                  <a:schemeClr val="tx1"/>
                </a:solidFill>
                <a:latin typeface="Times New Roman" pitchFamily="18" charset="0"/>
                <a:cs typeface="Times New Roman" pitchFamily="18" charset="0"/>
              </a:rPr>
              <a:t>Search &amp; filters programs</a:t>
            </a:r>
          </a:p>
          <a:p>
            <a:pPr>
              <a:buFont typeface="Courier New" panose="02070309020205020404" pitchFamily="49" charset="0"/>
              <a:buChar char="o"/>
            </a:pPr>
            <a:r>
              <a:rPr lang="en-US" sz="2000" i="1" dirty="0">
                <a:solidFill>
                  <a:schemeClr val="tx1"/>
                </a:solidFill>
                <a:latin typeface="Times New Roman" pitchFamily="18" charset="0"/>
                <a:cs typeface="Times New Roman" pitchFamily="18" charset="0"/>
              </a:rPr>
              <a:t>Can donate food And money</a:t>
            </a:r>
          </a:p>
          <a:p>
            <a:pPr>
              <a:buFont typeface="Courier New" panose="02070309020205020404" pitchFamily="49" charset="0"/>
              <a:buChar char="o"/>
            </a:pPr>
            <a:r>
              <a:rPr lang="en-US" sz="2000" i="1" dirty="0">
                <a:solidFill>
                  <a:schemeClr val="tx1"/>
                </a:solidFill>
                <a:latin typeface="Times New Roman" pitchFamily="18" charset="0"/>
                <a:cs typeface="Times New Roman" pitchFamily="18" charset="0"/>
              </a:rPr>
              <a:t>Become a part by volunteering</a:t>
            </a:r>
          </a:p>
          <a:p>
            <a:pPr>
              <a:buFont typeface="Courier New" panose="02070309020205020404" pitchFamily="49" charset="0"/>
              <a:buChar char="o"/>
            </a:pPr>
            <a:endParaRPr lang="en-US" sz="2000" i="1" dirty="0">
              <a:solidFill>
                <a:schemeClr val="tx1"/>
              </a:solidFill>
              <a:latin typeface="Times New Roman" pitchFamily="18" charset="0"/>
              <a:cs typeface="Times New Roman" pitchFamily="18" charset="0"/>
            </a:endParaRPr>
          </a:p>
        </p:txBody>
      </p:sp>
      <p:sp>
        <p:nvSpPr>
          <p:cNvPr id="4" name="Content Placeholder 3">
            <a:extLst>
              <a:ext uri="{FF2B5EF4-FFF2-40B4-BE49-F238E27FC236}">
                <a16:creationId xmlns:a16="http://schemas.microsoft.com/office/drawing/2014/main" id="{2903F786-6514-71F6-6DBB-1979AD9DBD58}"/>
              </a:ext>
            </a:extLst>
          </p:cNvPr>
          <p:cNvSpPr>
            <a:spLocks noGrp="1"/>
          </p:cNvSpPr>
          <p:nvPr>
            <p:ph sz="half" idx="2"/>
          </p:nvPr>
        </p:nvSpPr>
        <p:spPr>
          <a:xfrm>
            <a:off x="4867513" y="1712662"/>
            <a:ext cx="4298334" cy="4432500"/>
          </a:xfrm>
        </p:spPr>
        <p:txBody>
          <a:bodyPr>
            <a:normAutofit/>
          </a:bodyPr>
          <a:lstStyle/>
          <a:p>
            <a:pPr marL="0" indent="0">
              <a:buNone/>
            </a:pPr>
            <a:r>
              <a:rPr lang="en-US" sz="2400" i="1" dirty="0">
                <a:solidFill>
                  <a:schemeClr val="accent1">
                    <a:lumMod val="75000"/>
                  </a:schemeClr>
                </a:solidFill>
                <a:latin typeface="Times New Roman" pitchFamily="18" charset="0"/>
                <a:cs typeface="Times New Roman" pitchFamily="18" charset="0"/>
              </a:rPr>
              <a:t>Admin Side</a:t>
            </a:r>
          </a:p>
          <a:p>
            <a:pPr>
              <a:buFont typeface="Courier New" panose="02070309020205020404" pitchFamily="49" charset="0"/>
              <a:buChar char="o"/>
            </a:pPr>
            <a:r>
              <a:rPr lang="en-US" sz="2000" i="1" dirty="0">
                <a:solidFill>
                  <a:schemeClr val="tx1"/>
                </a:solidFill>
                <a:latin typeface="Times New Roman" pitchFamily="18" charset="0"/>
                <a:cs typeface="Times New Roman" pitchFamily="18" charset="0"/>
              </a:rPr>
              <a:t>Admin login</a:t>
            </a:r>
          </a:p>
          <a:p>
            <a:pPr>
              <a:buFont typeface="Courier New" panose="02070309020205020404" pitchFamily="49" charset="0"/>
              <a:buChar char="o"/>
            </a:pPr>
            <a:r>
              <a:rPr lang="en-US" sz="2000" i="1" dirty="0">
                <a:solidFill>
                  <a:schemeClr val="tx1"/>
                </a:solidFill>
                <a:latin typeface="Times New Roman" pitchFamily="18" charset="0"/>
                <a:cs typeface="Times New Roman" pitchFamily="18" charset="0"/>
              </a:rPr>
              <a:t>Manage users</a:t>
            </a:r>
          </a:p>
          <a:p>
            <a:pPr>
              <a:buFont typeface="Courier New" panose="02070309020205020404" pitchFamily="49" charset="0"/>
              <a:buChar char="o"/>
            </a:pPr>
            <a:r>
              <a:rPr lang="en-US" sz="2000" i="1" dirty="0">
                <a:solidFill>
                  <a:schemeClr val="tx1"/>
                </a:solidFill>
                <a:latin typeface="Times New Roman" pitchFamily="18" charset="0"/>
                <a:cs typeface="Times New Roman" pitchFamily="18" charset="0"/>
              </a:rPr>
              <a:t>Manage Donations</a:t>
            </a:r>
          </a:p>
          <a:p>
            <a:pPr>
              <a:buFont typeface="Courier New" panose="02070309020205020404" pitchFamily="49" charset="0"/>
              <a:buChar char="o"/>
            </a:pPr>
            <a:r>
              <a:rPr lang="en-US" sz="2000" i="1" dirty="0">
                <a:solidFill>
                  <a:schemeClr val="tx1"/>
                </a:solidFill>
                <a:latin typeface="Times New Roman" pitchFamily="18" charset="0"/>
                <a:cs typeface="Times New Roman" pitchFamily="18" charset="0"/>
              </a:rPr>
              <a:t>Decide volunteer &amp; team</a:t>
            </a:r>
          </a:p>
          <a:p>
            <a:pPr>
              <a:buFont typeface="Courier New" panose="02070309020205020404" pitchFamily="49" charset="0"/>
              <a:buChar char="o"/>
            </a:pPr>
            <a:r>
              <a:rPr lang="en-US" sz="2000" i="1" dirty="0">
                <a:solidFill>
                  <a:schemeClr val="tx1"/>
                </a:solidFill>
                <a:latin typeface="Times New Roman" pitchFamily="18" charset="0"/>
                <a:cs typeface="Times New Roman" pitchFamily="18" charset="0"/>
              </a:rPr>
              <a:t>Manage payments &amp; reports</a:t>
            </a:r>
          </a:p>
          <a:p>
            <a:pPr>
              <a:buFont typeface="Courier New" panose="02070309020205020404" pitchFamily="49" charset="0"/>
              <a:buChar char="o"/>
            </a:pPr>
            <a:r>
              <a:rPr lang="en-US" sz="2000" i="1" dirty="0">
                <a:solidFill>
                  <a:schemeClr val="tx1"/>
                </a:solidFill>
                <a:latin typeface="Times New Roman" pitchFamily="18" charset="0"/>
                <a:cs typeface="Times New Roman" pitchFamily="18" charset="0"/>
              </a:rPr>
              <a:t>Website content management </a:t>
            </a:r>
          </a:p>
        </p:txBody>
      </p:sp>
    </p:spTree>
    <p:extLst>
      <p:ext uri="{BB962C8B-B14F-4D97-AF65-F5344CB8AC3E}">
        <p14:creationId xmlns:p14="http://schemas.microsoft.com/office/powerpoint/2010/main" val="3585904599"/>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1C0393-5223-AAD1-6B82-1AC0C56F48E0}"/>
              </a:ext>
            </a:extLst>
          </p:cNvPr>
          <p:cNvSpPr>
            <a:spLocks noGrp="1"/>
          </p:cNvSpPr>
          <p:nvPr>
            <p:ph type="title"/>
          </p:nvPr>
        </p:nvSpPr>
        <p:spPr>
          <a:xfrm>
            <a:off x="620584" y="503367"/>
            <a:ext cx="8596668" cy="786581"/>
          </a:xfrm>
        </p:spPr>
        <p:txBody>
          <a:bodyPr>
            <a:normAutofit/>
          </a:bodyPr>
          <a:lstStyle/>
          <a:p>
            <a:pPr algn="ctr"/>
            <a:r>
              <a:rPr lang="en-IN" sz="4000" b="1" i="1" dirty="0">
                <a:latin typeface="Gabriola" pitchFamily="82" charset="0"/>
              </a:rPr>
              <a:t>Scope  of  Project</a:t>
            </a:r>
          </a:p>
        </p:txBody>
      </p:sp>
      <p:sp>
        <p:nvSpPr>
          <p:cNvPr id="3" name="Content Placeholder 2">
            <a:extLst>
              <a:ext uri="{FF2B5EF4-FFF2-40B4-BE49-F238E27FC236}">
                <a16:creationId xmlns:a16="http://schemas.microsoft.com/office/drawing/2014/main" id="{602A33E6-2F11-CF79-47F9-F94FA05150CC}"/>
              </a:ext>
            </a:extLst>
          </p:cNvPr>
          <p:cNvSpPr>
            <a:spLocks noGrp="1"/>
          </p:cNvSpPr>
          <p:nvPr>
            <p:ph idx="1"/>
          </p:nvPr>
        </p:nvSpPr>
        <p:spPr>
          <a:xfrm>
            <a:off x="264380" y="1578185"/>
            <a:ext cx="9309076" cy="4383157"/>
          </a:xfrm>
        </p:spPr>
        <p:txBody>
          <a:bodyPr>
            <a:normAutofit/>
          </a:bodyPr>
          <a:lstStyle/>
          <a:p>
            <a:pPr marL="0" indent="0" algn="ctr">
              <a:lnSpc>
                <a:spcPct val="150000"/>
              </a:lnSpc>
              <a:buNone/>
            </a:pPr>
            <a:r>
              <a:rPr lang="en-IN" sz="2000" i="1" dirty="0">
                <a:solidFill>
                  <a:schemeClr val="tx1"/>
                </a:solidFill>
                <a:latin typeface="Times New Roman" pitchFamily="18" charset="0"/>
                <a:cs typeface="Times New Roman" pitchFamily="18" charset="0"/>
              </a:rPr>
              <a:t>The ServeKind Project aims to create a digital platform that bridges the gap between donors, NGOs, and individuals in need. It provides an efficient and transparent way to manage food donations and reduce wastage. Through ServeKind, users can donate surplus food, register as volunteers, or contribute funds to support hunger-relief efforts.</a:t>
            </a:r>
          </a:p>
          <a:p>
            <a:pPr marL="0" indent="0" algn="ctr">
              <a:lnSpc>
                <a:spcPct val="150000"/>
              </a:lnSpc>
              <a:buNone/>
            </a:pPr>
            <a:r>
              <a:rPr lang="en-IN" sz="2000" i="1" dirty="0">
                <a:solidFill>
                  <a:schemeClr val="tx1"/>
                </a:solidFill>
                <a:latin typeface="Times New Roman" pitchFamily="18" charset="0"/>
                <a:cs typeface="Times New Roman" pitchFamily="18" charset="0"/>
              </a:rPr>
              <a:t>The system simplifies coordination between donors and recipients while ensuring safety, authenticity, and accountability. It also helps NGOs manage donations, track inventory, and communicate with volunteers. The overall goal is to build a sustainable ecosystem where technology enhances compassion — making giving back simple, quick, and meaningful.</a:t>
            </a:r>
          </a:p>
          <a:p>
            <a:pPr marL="0" indent="0" algn="ctr">
              <a:buNone/>
            </a:pPr>
            <a:endParaRPr lang="en-IN" sz="2000" i="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437349350"/>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C14239-13DF-3D0D-F0F3-043531697037}"/>
              </a:ext>
            </a:extLst>
          </p:cNvPr>
          <p:cNvSpPr>
            <a:spLocks noGrp="1"/>
          </p:cNvSpPr>
          <p:nvPr>
            <p:ph type="title"/>
          </p:nvPr>
        </p:nvSpPr>
        <p:spPr>
          <a:xfrm>
            <a:off x="234882" y="467032"/>
            <a:ext cx="8596668" cy="619432"/>
          </a:xfrm>
        </p:spPr>
        <p:txBody>
          <a:bodyPr>
            <a:noAutofit/>
          </a:bodyPr>
          <a:lstStyle/>
          <a:p>
            <a:pPr algn="ctr"/>
            <a:r>
              <a:rPr lang="en-IN" sz="4000" b="1" i="1" dirty="0">
                <a:latin typeface="Gabriola" pitchFamily="82" charset="0"/>
              </a:rPr>
              <a:t>Future   Enhancements</a:t>
            </a:r>
            <a:br>
              <a:rPr lang="en-IN" sz="4000" dirty="0">
                <a:latin typeface="Gabriola" pitchFamily="82" charset="0"/>
              </a:rPr>
            </a:br>
            <a:endParaRPr lang="en-IN" sz="4000" dirty="0">
              <a:latin typeface="Gabriola" pitchFamily="82" charset="0"/>
            </a:endParaRPr>
          </a:p>
        </p:txBody>
      </p:sp>
      <p:sp>
        <p:nvSpPr>
          <p:cNvPr id="3" name="Content Placeholder 2">
            <a:extLst>
              <a:ext uri="{FF2B5EF4-FFF2-40B4-BE49-F238E27FC236}">
                <a16:creationId xmlns:a16="http://schemas.microsoft.com/office/drawing/2014/main" id="{E902F767-D49E-47C8-D5D7-18D821D1EB1B}"/>
              </a:ext>
            </a:extLst>
          </p:cNvPr>
          <p:cNvSpPr>
            <a:spLocks noGrp="1"/>
          </p:cNvSpPr>
          <p:nvPr>
            <p:ph idx="1"/>
          </p:nvPr>
        </p:nvSpPr>
        <p:spPr>
          <a:xfrm>
            <a:off x="333205" y="1391829"/>
            <a:ext cx="9233582" cy="5215448"/>
          </a:xfrm>
        </p:spPr>
        <p:txBody>
          <a:bodyPr>
            <a:noAutofit/>
          </a:bodyPr>
          <a:lstStyle/>
          <a:p>
            <a:r>
              <a:rPr lang="en-IN" i="1" dirty="0">
                <a:solidFill>
                  <a:schemeClr val="tx1"/>
                </a:solidFill>
                <a:latin typeface="Times New Roman" pitchFamily="18" charset="0"/>
                <a:cs typeface="Times New Roman" pitchFamily="18" charset="0"/>
              </a:rPr>
              <a:t>AI-Powered Matching System: Automatically connecting nearby donors with NGOs or recipients in real time.</a:t>
            </a:r>
          </a:p>
          <a:p>
            <a:r>
              <a:rPr lang="en-IN" i="1" dirty="0">
                <a:solidFill>
                  <a:schemeClr val="tx1"/>
                </a:solidFill>
                <a:latin typeface="Times New Roman" pitchFamily="18" charset="0"/>
                <a:cs typeface="Times New Roman" pitchFamily="18" charset="0"/>
              </a:rPr>
              <a:t>Translation &amp; Multilingual Support: Making the platform accessible to users across different languages and regions.</a:t>
            </a:r>
          </a:p>
          <a:p>
            <a:r>
              <a:rPr lang="en-IN" i="1" dirty="0">
                <a:solidFill>
                  <a:schemeClr val="tx1"/>
                </a:solidFill>
                <a:latin typeface="Times New Roman" pitchFamily="18" charset="0"/>
                <a:cs typeface="Times New Roman" pitchFamily="18" charset="0"/>
              </a:rPr>
              <a:t>Location Tracking: Mapping donations and volunteer activities for faster delivery and better coordination.</a:t>
            </a:r>
          </a:p>
          <a:p>
            <a:r>
              <a:rPr lang="en-IN" i="1" dirty="0">
                <a:solidFill>
                  <a:schemeClr val="tx1"/>
                </a:solidFill>
                <a:latin typeface="Times New Roman" pitchFamily="18" charset="0"/>
                <a:cs typeface="Times New Roman" pitchFamily="18" charset="0"/>
              </a:rPr>
              <a:t>Reward &amp; Recognition System: Appreciating top donors and volunteers with digital certificates or points.</a:t>
            </a:r>
          </a:p>
          <a:p>
            <a:r>
              <a:rPr lang="en-IN" i="1" dirty="0">
                <a:solidFill>
                  <a:schemeClr val="tx1"/>
                </a:solidFill>
                <a:latin typeface="Times New Roman" pitchFamily="18" charset="0"/>
                <a:cs typeface="Times New Roman" pitchFamily="18" charset="0"/>
              </a:rPr>
              <a:t>Community Stories &amp; Impact Section: Showcasing real-life stories of change to inspire more participation.</a:t>
            </a:r>
          </a:p>
          <a:p>
            <a:r>
              <a:rPr lang="en-IN" i="1" dirty="0">
                <a:solidFill>
                  <a:schemeClr val="tx1"/>
                </a:solidFill>
                <a:latin typeface="Times New Roman" pitchFamily="18" charset="0"/>
                <a:cs typeface="Times New Roman" pitchFamily="18" charset="0"/>
              </a:rPr>
              <a:t>Integration with Government &amp;  NGOs: Strengthening partnerships to maximize food reach and minimize wastage..</a:t>
            </a:r>
          </a:p>
          <a:p>
            <a:endParaRPr lang="en-IN" i="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881712324"/>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9180" y="0"/>
            <a:ext cx="8596668" cy="555653"/>
          </a:xfrm>
        </p:spPr>
        <p:txBody>
          <a:bodyPr>
            <a:normAutofit fontScale="90000"/>
          </a:bodyPr>
          <a:lstStyle/>
          <a:p>
            <a:pPr algn="ctr"/>
            <a:r>
              <a:rPr lang="en-US" sz="4000" b="1" i="1" dirty="0">
                <a:latin typeface="Gabriola" pitchFamily="82" charset="0"/>
              </a:rPr>
              <a:t>Objectives</a:t>
            </a:r>
            <a:endParaRPr lang="en-IN" sz="4000" b="1" i="1" dirty="0">
              <a:latin typeface="Gabriola" pitchFamily="82" charset="0"/>
            </a:endParaRPr>
          </a:p>
        </p:txBody>
      </p:sp>
      <p:sp>
        <p:nvSpPr>
          <p:cNvPr id="3" name="TextBox 2"/>
          <p:cNvSpPr txBox="1"/>
          <p:nvPr/>
        </p:nvSpPr>
        <p:spPr>
          <a:xfrm>
            <a:off x="174544" y="555653"/>
            <a:ext cx="10569656" cy="6463308"/>
          </a:xfrm>
          <a:prstGeom prst="rect">
            <a:avLst/>
          </a:prstGeom>
          <a:noFill/>
        </p:spPr>
        <p:txBody>
          <a:bodyPr wrap="square" rtlCol="0">
            <a:spAutoFit/>
          </a:bodyPr>
          <a:lstStyle/>
          <a:p>
            <a:pPr marL="171450" indent="-171450">
              <a:buFont typeface="Arial" pitchFamily="34" charset="0"/>
              <a:buChar char="•"/>
            </a:pPr>
            <a:r>
              <a:rPr lang="en-US" b="1" i="1" dirty="0">
                <a:latin typeface="Times New Roman" pitchFamily="18" charset="0"/>
                <a:cs typeface="Times New Roman" pitchFamily="18" charset="0"/>
              </a:rPr>
              <a:t> To Provide Help Fast &amp; Effectively : </a:t>
            </a:r>
            <a:r>
              <a:rPr lang="en-US" i="1" dirty="0">
                <a:latin typeface="Times New Roman" pitchFamily="18" charset="0"/>
                <a:cs typeface="Times New Roman" pitchFamily="18" charset="0"/>
              </a:rPr>
              <a:t>ServerKind aims to make help reach people quickly by connecting donors, volunteers, and individuals in need through a simple and organized online platform.</a:t>
            </a:r>
          </a:p>
          <a:p>
            <a:r>
              <a:rPr lang="en-US" i="1" dirty="0">
                <a:latin typeface="Times New Roman" pitchFamily="18" charset="0"/>
                <a:cs typeface="Times New Roman" pitchFamily="18" charset="0"/>
              </a:rPr>
              <a:t>.</a:t>
            </a:r>
          </a:p>
          <a:p>
            <a:pPr marL="171450" indent="-171450">
              <a:buFont typeface="Arial" pitchFamily="34" charset="0"/>
              <a:buChar char="•"/>
            </a:pPr>
            <a:r>
              <a:rPr lang="en-US" b="1" i="1" dirty="0">
                <a:latin typeface="Times New Roman" pitchFamily="18" charset="0"/>
                <a:cs typeface="Times New Roman" pitchFamily="18" charset="0"/>
              </a:rPr>
              <a:t> To Encourage Community Participation : </a:t>
            </a:r>
            <a:r>
              <a:rPr lang="en-US" i="1" dirty="0">
                <a:latin typeface="Times New Roman" pitchFamily="18" charset="0"/>
                <a:cs typeface="Times New Roman" pitchFamily="18" charset="0"/>
              </a:rPr>
              <a:t>ServerKind encourages people to contribute through food donations, monetary help, or volunteering. It boosts community-driven social work.</a:t>
            </a:r>
          </a:p>
          <a:p>
            <a:pPr marL="171450" indent="-171450">
              <a:buFont typeface="Arial" pitchFamily="34" charset="0"/>
              <a:buChar char="•"/>
            </a:pPr>
            <a:endParaRPr lang="en-US" i="1" dirty="0">
              <a:latin typeface="Times New Roman" pitchFamily="18" charset="0"/>
              <a:cs typeface="Times New Roman" pitchFamily="18" charset="0"/>
            </a:endParaRPr>
          </a:p>
          <a:p>
            <a:pPr marL="171450" indent="-171450">
              <a:buFont typeface="Arial" pitchFamily="34" charset="0"/>
              <a:buChar char="•"/>
            </a:pPr>
            <a:r>
              <a:rPr lang="en-US" b="1" i="1" dirty="0">
                <a:latin typeface="Times New Roman" pitchFamily="18" charset="0"/>
                <a:cs typeface="Times New Roman" pitchFamily="18" charset="0"/>
              </a:rPr>
              <a:t>To Maintain Transparency &amp; Trust : </a:t>
            </a:r>
            <a:r>
              <a:rPr lang="en-US" i="1" dirty="0">
                <a:latin typeface="Times New Roman" pitchFamily="18" charset="0"/>
                <a:cs typeface="Times New Roman" pitchFamily="18" charset="0"/>
              </a:rPr>
              <a:t>Every donation, application, and program record is stored digitally.</a:t>
            </a:r>
          </a:p>
          <a:p>
            <a:r>
              <a:rPr lang="en-US" i="1" dirty="0">
                <a:latin typeface="Times New Roman" pitchFamily="18" charset="0"/>
                <a:cs typeface="Times New Roman" pitchFamily="18" charset="0"/>
              </a:rPr>
              <a:t>       This ensures transparency between admin, volunteers, and users.</a:t>
            </a:r>
          </a:p>
          <a:p>
            <a:endParaRPr lang="en-US" i="1" dirty="0">
              <a:latin typeface="Times New Roman" pitchFamily="18" charset="0"/>
              <a:cs typeface="Times New Roman" pitchFamily="18" charset="0"/>
            </a:endParaRPr>
          </a:p>
          <a:p>
            <a:pPr marL="171450" indent="-171450">
              <a:buFont typeface="Arial" pitchFamily="34" charset="0"/>
              <a:buChar char="•"/>
            </a:pPr>
            <a:r>
              <a:rPr lang="en-US" b="1" i="1" dirty="0">
                <a:latin typeface="Times New Roman" pitchFamily="18" charset="0"/>
                <a:cs typeface="Times New Roman" pitchFamily="18" charset="0"/>
              </a:rPr>
              <a:t>To Organize and Manage Programs Smoothly: </a:t>
            </a:r>
            <a:r>
              <a:rPr lang="en-US" i="1" dirty="0">
                <a:latin typeface="Times New Roman" pitchFamily="18" charset="0"/>
                <a:cs typeface="Times New Roman" pitchFamily="18" charset="0"/>
              </a:rPr>
              <a:t>ServerKind helps the admin publish, update, and manage charity programs, events, and awareness drives.</a:t>
            </a:r>
          </a:p>
          <a:p>
            <a:pPr marL="171450" indent="-171450">
              <a:buFont typeface="Arial" pitchFamily="34" charset="0"/>
              <a:buChar char="•"/>
            </a:pPr>
            <a:endParaRPr lang="en-US" i="1" dirty="0">
              <a:latin typeface="Times New Roman" pitchFamily="18" charset="0"/>
              <a:cs typeface="Times New Roman" pitchFamily="18" charset="0"/>
            </a:endParaRPr>
          </a:p>
          <a:p>
            <a:pPr marL="171450" indent="-171450">
              <a:buFont typeface="Arial" pitchFamily="34" charset="0"/>
              <a:buChar char="•"/>
            </a:pPr>
            <a:r>
              <a:rPr lang="en-US" b="1" i="1" dirty="0">
                <a:latin typeface="Times New Roman" pitchFamily="18" charset="0"/>
                <a:cs typeface="Times New Roman" pitchFamily="18" charset="0"/>
              </a:rPr>
              <a:t> To Manage Volunteers Efficiently: </a:t>
            </a:r>
            <a:r>
              <a:rPr lang="en-US" i="1" dirty="0">
                <a:latin typeface="Times New Roman" pitchFamily="18" charset="0"/>
                <a:cs typeface="Times New Roman" pitchFamily="18" charset="0"/>
              </a:rPr>
              <a:t>Volunteer applications are collected, reviewed, and approved or rejected by the </a:t>
            </a:r>
            <a:r>
              <a:rPr lang="en-US" i="1" dirty="0" err="1">
                <a:latin typeface="Times New Roman" pitchFamily="18" charset="0"/>
                <a:cs typeface="Times New Roman" pitchFamily="18" charset="0"/>
              </a:rPr>
              <a:t>admin.This</a:t>
            </a:r>
            <a:r>
              <a:rPr lang="en-US" i="1" dirty="0">
                <a:latin typeface="Times New Roman" pitchFamily="18" charset="0"/>
                <a:cs typeface="Times New Roman" pitchFamily="18" charset="0"/>
              </a:rPr>
              <a:t> ensures only genuine volunteers join activities.</a:t>
            </a:r>
          </a:p>
          <a:p>
            <a:pPr marL="171450" indent="-171450">
              <a:buFont typeface="Arial" pitchFamily="34" charset="0"/>
              <a:buChar char="•"/>
            </a:pPr>
            <a:endParaRPr lang="en-US" i="1" dirty="0">
              <a:latin typeface="Times New Roman" pitchFamily="18" charset="0"/>
              <a:cs typeface="Times New Roman" pitchFamily="18" charset="0"/>
            </a:endParaRPr>
          </a:p>
          <a:p>
            <a:pPr marL="171450" indent="-171450">
              <a:buFont typeface="Arial" pitchFamily="34" charset="0"/>
              <a:buChar char="•"/>
            </a:pPr>
            <a:r>
              <a:rPr lang="en-US" b="1" i="1" dirty="0">
                <a:latin typeface="Times New Roman" pitchFamily="18" charset="0"/>
                <a:cs typeface="Times New Roman" pitchFamily="18" charset="0"/>
              </a:rPr>
              <a:t> To Share Inspiring Stories &amp; Blogs: </a:t>
            </a:r>
            <a:r>
              <a:rPr lang="en-US" i="1" dirty="0">
                <a:latin typeface="Times New Roman" pitchFamily="18" charset="0"/>
                <a:cs typeface="Times New Roman" pitchFamily="18" charset="0"/>
              </a:rPr>
              <a:t>ServerKind  promotes positivity by publishing stories, community updates, </a:t>
            </a:r>
          </a:p>
          <a:p>
            <a:r>
              <a:rPr lang="en-US" i="1" dirty="0">
                <a:latin typeface="Times New Roman" pitchFamily="18" charset="0"/>
                <a:cs typeface="Times New Roman" pitchFamily="18" charset="0"/>
              </a:rPr>
              <a:t>      and blog posts that motivate others to participate in social good.</a:t>
            </a:r>
          </a:p>
          <a:p>
            <a:endParaRPr lang="en-US" i="1" dirty="0">
              <a:latin typeface="Times New Roman" pitchFamily="18" charset="0"/>
              <a:cs typeface="Times New Roman" pitchFamily="18" charset="0"/>
            </a:endParaRPr>
          </a:p>
          <a:p>
            <a:pPr marL="171450" indent="-171450">
              <a:buFont typeface="Arial" pitchFamily="34" charset="0"/>
              <a:buChar char="•"/>
            </a:pPr>
            <a:r>
              <a:rPr lang="en-US" b="1" i="1" dirty="0">
                <a:latin typeface="Times New Roman" pitchFamily="18" charset="0"/>
                <a:cs typeface="Times New Roman" pitchFamily="18" charset="0"/>
              </a:rPr>
              <a:t>To Digitize an NGO’s Daily Operations: </a:t>
            </a:r>
            <a:r>
              <a:rPr lang="en-US" i="1" dirty="0">
                <a:latin typeface="Times New Roman" pitchFamily="18" charset="0"/>
                <a:cs typeface="Times New Roman" pitchFamily="18" charset="0"/>
              </a:rPr>
              <a:t>ServerKind acts as a digital management system.</a:t>
            </a:r>
          </a:p>
          <a:p>
            <a:pPr marL="171450" indent="-171450">
              <a:buFont typeface="Arial" pitchFamily="34" charset="0"/>
              <a:buChar char="•"/>
            </a:pPr>
            <a:endParaRPr lang="en-US" i="1" dirty="0">
              <a:latin typeface="Times New Roman" pitchFamily="18" charset="0"/>
              <a:cs typeface="Times New Roman" pitchFamily="18" charset="0"/>
            </a:endParaRPr>
          </a:p>
          <a:p>
            <a:pPr marL="171450" indent="-171450">
              <a:buFont typeface="Arial" pitchFamily="34" charset="0"/>
              <a:buChar char="•"/>
            </a:pPr>
            <a:r>
              <a:rPr lang="en-US" b="1" i="1" dirty="0">
                <a:latin typeface="Times New Roman" pitchFamily="18" charset="0"/>
                <a:cs typeface="Times New Roman" pitchFamily="18" charset="0"/>
              </a:rPr>
              <a:t> To Build a Scalable Social Platform: </a:t>
            </a:r>
            <a:r>
              <a:rPr lang="en-US" i="1" dirty="0">
                <a:latin typeface="Times New Roman" pitchFamily="18" charset="0"/>
                <a:cs typeface="Times New Roman" pitchFamily="18" charset="0"/>
              </a:rPr>
              <a:t>ServerKind is designed to grow — more features.</a:t>
            </a:r>
          </a:p>
          <a:p>
            <a:pPr marL="171450" indent="-171450">
              <a:buFont typeface="Arial" pitchFamily="34" charset="0"/>
              <a:buChar char="•"/>
            </a:pPr>
            <a:endParaRPr lang="en-IN" i="1" dirty="0">
              <a:latin typeface="Times New Roman" pitchFamily="18" charset="0"/>
              <a:cs typeface="Times New Roman" pitchFamily="18" charset="0"/>
            </a:endParaRPr>
          </a:p>
        </p:txBody>
      </p:sp>
    </p:spTree>
    <p:extLst>
      <p:ext uri="{BB962C8B-B14F-4D97-AF65-F5344CB8AC3E}">
        <p14:creationId xmlns:p14="http://schemas.microsoft.com/office/powerpoint/2010/main" val="846593415"/>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6421" y="168493"/>
            <a:ext cx="8596668" cy="766046"/>
          </a:xfrm>
        </p:spPr>
        <p:txBody>
          <a:bodyPr/>
          <a:lstStyle/>
          <a:p>
            <a:pPr algn="ctr"/>
            <a:r>
              <a:rPr lang="en-US" b="1" i="1" dirty="0">
                <a:latin typeface="Gabriola" pitchFamily="82" charset="0"/>
              </a:rPr>
              <a:t>Workflow  of   website</a:t>
            </a:r>
            <a:endParaRPr lang="en-IN" dirty="0"/>
          </a:p>
        </p:txBody>
      </p:sp>
      <p:sp>
        <p:nvSpPr>
          <p:cNvPr id="5" name="TextBox 4"/>
          <p:cNvSpPr txBox="1"/>
          <p:nvPr/>
        </p:nvSpPr>
        <p:spPr>
          <a:xfrm>
            <a:off x="665628" y="999801"/>
            <a:ext cx="4472901" cy="954107"/>
          </a:xfrm>
          <a:prstGeom prst="rect">
            <a:avLst/>
          </a:prstGeom>
          <a:ln>
            <a:solidFill>
              <a:schemeClr val="bg1"/>
            </a:solidFill>
          </a:ln>
        </p:spPr>
        <p:style>
          <a:lnRef idx="2">
            <a:schemeClr val="accent3"/>
          </a:lnRef>
          <a:fillRef idx="1">
            <a:schemeClr val="lt1"/>
          </a:fillRef>
          <a:effectRef idx="0">
            <a:schemeClr val="accent3"/>
          </a:effectRef>
          <a:fontRef idx="minor">
            <a:schemeClr val="dk1"/>
          </a:fontRef>
        </p:style>
        <p:txBody>
          <a:bodyPr wrap="square" rtlCol="0">
            <a:spAutoFit/>
          </a:bodyPr>
          <a:lstStyle/>
          <a:p>
            <a:r>
              <a:rPr lang="en-US" sz="1400" b="1" i="1" dirty="0">
                <a:latin typeface="Times New Roman" pitchFamily="18" charset="0"/>
                <a:cs typeface="Times New Roman" pitchFamily="18" charset="0"/>
              </a:rPr>
              <a:t>1. User Visits the Website </a:t>
            </a:r>
          </a:p>
          <a:p>
            <a:r>
              <a:rPr lang="en-US" sz="1400" i="1" dirty="0">
                <a:latin typeface="Times New Roman" pitchFamily="18" charset="0"/>
                <a:cs typeface="Times New Roman" pitchFamily="18" charset="0"/>
              </a:rPr>
              <a:t>User lands on: Home </a:t>
            </a:r>
            <a:r>
              <a:rPr lang="en-US" sz="1400" i="1" dirty="0" err="1">
                <a:latin typeface="Times New Roman" pitchFamily="18" charset="0"/>
                <a:cs typeface="Times New Roman" pitchFamily="18" charset="0"/>
              </a:rPr>
              <a:t>AboutUs</a:t>
            </a:r>
            <a:r>
              <a:rPr lang="en-US" sz="1400" i="1" dirty="0">
                <a:latin typeface="Times New Roman" pitchFamily="18" charset="0"/>
                <a:cs typeface="Times New Roman" pitchFamily="18" charset="0"/>
              </a:rPr>
              <a:t> Programs Donate Volunteer </a:t>
            </a:r>
            <a:r>
              <a:rPr lang="en-US" sz="1400" i="1" dirty="0" err="1">
                <a:latin typeface="Times New Roman" pitchFamily="18" charset="0"/>
                <a:cs typeface="Times New Roman" pitchFamily="18" charset="0"/>
              </a:rPr>
              <a:t>ContactUs</a:t>
            </a:r>
            <a:r>
              <a:rPr lang="en-US" sz="1400" i="1" dirty="0">
                <a:latin typeface="Times New Roman" pitchFamily="18" charset="0"/>
                <a:cs typeface="Times New Roman" pitchFamily="18" charset="0"/>
              </a:rPr>
              <a:t> User can explore programs, read blogs/stories, and learn about the NGO.</a:t>
            </a:r>
          </a:p>
        </p:txBody>
      </p:sp>
      <p:sp>
        <p:nvSpPr>
          <p:cNvPr id="6" name="TextBox 5"/>
          <p:cNvSpPr txBox="1"/>
          <p:nvPr/>
        </p:nvSpPr>
        <p:spPr>
          <a:xfrm>
            <a:off x="665629" y="2155816"/>
            <a:ext cx="4043936" cy="3108543"/>
          </a:xfrm>
          <a:prstGeom prst="rect">
            <a:avLst/>
          </a:prstGeom>
          <a:ln>
            <a:solidFill>
              <a:schemeClr val="bg1"/>
            </a:solidFill>
          </a:ln>
        </p:spPr>
        <p:style>
          <a:lnRef idx="2">
            <a:schemeClr val="accent3"/>
          </a:lnRef>
          <a:fillRef idx="1">
            <a:schemeClr val="lt1"/>
          </a:fillRef>
          <a:effectRef idx="0">
            <a:schemeClr val="accent3"/>
          </a:effectRef>
          <a:fontRef idx="minor">
            <a:schemeClr val="dk1"/>
          </a:fontRef>
        </p:style>
        <p:txBody>
          <a:bodyPr wrap="square" rtlCol="0">
            <a:spAutoFit/>
          </a:bodyPr>
          <a:lstStyle/>
          <a:p>
            <a:r>
              <a:rPr lang="en-US" sz="1400" b="1" i="1" dirty="0">
                <a:latin typeface="Times New Roman" pitchFamily="18" charset="0"/>
                <a:cs typeface="Times New Roman" pitchFamily="18" charset="0"/>
              </a:rPr>
              <a:t>2. User Performs an Action</a:t>
            </a:r>
          </a:p>
          <a:p>
            <a:r>
              <a:rPr lang="en-US" sz="1400" i="1" dirty="0">
                <a:latin typeface="Times New Roman" pitchFamily="18" charset="0"/>
                <a:cs typeface="Times New Roman" pitchFamily="18" charset="0"/>
              </a:rPr>
              <a:t>A visitor can:</a:t>
            </a:r>
          </a:p>
          <a:p>
            <a:r>
              <a:rPr lang="en-US" sz="1400" i="1" dirty="0">
                <a:latin typeface="Times New Roman" pitchFamily="18" charset="0"/>
                <a:cs typeface="Times New Roman" pitchFamily="18" charset="0"/>
              </a:rPr>
              <a:t> Submit a Donation Form</a:t>
            </a:r>
          </a:p>
          <a:p>
            <a:pPr marL="285750" indent="-285750">
              <a:buFont typeface="Arial" pitchFamily="34" charset="0"/>
              <a:buChar char="•"/>
            </a:pPr>
            <a:r>
              <a:rPr lang="en-US" sz="1400" i="1" dirty="0">
                <a:latin typeface="Times New Roman" pitchFamily="18" charset="0"/>
                <a:cs typeface="Times New Roman" pitchFamily="18" charset="0"/>
              </a:rPr>
              <a:t>Enters name, email, contact, amount, or food donation type</a:t>
            </a:r>
          </a:p>
          <a:p>
            <a:pPr marL="285750" indent="-285750">
              <a:buFont typeface="Arial" pitchFamily="34" charset="0"/>
              <a:buChar char="•"/>
            </a:pPr>
            <a:r>
              <a:rPr lang="en-US" sz="1400" i="1" dirty="0">
                <a:latin typeface="Times New Roman" pitchFamily="18" charset="0"/>
                <a:cs typeface="Times New Roman" pitchFamily="18" charset="0"/>
              </a:rPr>
              <a:t>Data goes to database</a:t>
            </a:r>
          </a:p>
          <a:p>
            <a:pPr marL="285750" indent="-285750">
              <a:buFont typeface="Arial" pitchFamily="34" charset="0"/>
              <a:buChar char="•"/>
            </a:pPr>
            <a:r>
              <a:rPr lang="en-US" sz="1400" i="1" dirty="0">
                <a:latin typeface="Times New Roman" pitchFamily="18" charset="0"/>
                <a:cs typeface="Times New Roman" pitchFamily="18" charset="0"/>
              </a:rPr>
              <a:t>Admin sees the entry in admin panel</a:t>
            </a:r>
          </a:p>
          <a:p>
            <a:r>
              <a:rPr lang="en-US" sz="1400" i="1" dirty="0">
                <a:latin typeface="Times New Roman" pitchFamily="18" charset="0"/>
                <a:cs typeface="Times New Roman" pitchFamily="18" charset="0"/>
              </a:rPr>
              <a:t> Submit a Volunteer Request</a:t>
            </a:r>
          </a:p>
          <a:p>
            <a:pPr marL="285750" indent="-285750">
              <a:buFont typeface="Arial" pitchFamily="34" charset="0"/>
              <a:buChar char="•"/>
            </a:pPr>
            <a:r>
              <a:rPr lang="en-US" sz="1400" i="1" dirty="0">
                <a:latin typeface="Times New Roman" pitchFamily="18" charset="0"/>
                <a:cs typeface="Times New Roman" pitchFamily="18" charset="0"/>
              </a:rPr>
              <a:t>Fills form with skills, availability</a:t>
            </a:r>
          </a:p>
          <a:p>
            <a:pPr marL="285750" indent="-285750">
              <a:buFont typeface="Arial" pitchFamily="34" charset="0"/>
              <a:buChar char="•"/>
            </a:pPr>
            <a:r>
              <a:rPr lang="en-US" sz="1400" i="1" dirty="0">
                <a:latin typeface="Times New Roman" pitchFamily="18" charset="0"/>
                <a:cs typeface="Times New Roman" pitchFamily="18" charset="0"/>
              </a:rPr>
              <a:t>Application goes to database</a:t>
            </a:r>
          </a:p>
          <a:p>
            <a:pPr marL="285750" indent="-285750">
              <a:buFont typeface="Arial" pitchFamily="34" charset="0"/>
              <a:buChar char="•"/>
            </a:pPr>
            <a:r>
              <a:rPr lang="en-US" sz="1400" i="1" dirty="0">
                <a:latin typeface="Times New Roman" pitchFamily="18" charset="0"/>
                <a:cs typeface="Times New Roman" pitchFamily="18" charset="0"/>
              </a:rPr>
              <a:t>Admin decides approve/reject</a:t>
            </a:r>
          </a:p>
          <a:p>
            <a:r>
              <a:rPr lang="en-US" sz="1400" i="1" dirty="0">
                <a:latin typeface="Times New Roman" pitchFamily="18" charset="0"/>
                <a:cs typeface="Times New Roman" pitchFamily="18" charset="0"/>
              </a:rPr>
              <a:t> Contact the Organization</a:t>
            </a:r>
          </a:p>
          <a:p>
            <a:pPr marL="285750" indent="-285750">
              <a:buFont typeface="Arial" pitchFamily="34" charset="0"/>
              <a:buChar char="•"/>
            </a:pPr>
            <a:r>
              <a:rPr lang="en-US" sz="1400" i="1" dirty="0">
                <a:latin typeface="Times New Roman" pitchFamily="18" charset="0"/>
                <a:cs typeface="Times New Roman" pitchFamily="18" charset="0"/>
              </a:rPr>
              <a:t>Sends a message or inquiry</a:t>
            </a:r>
          </a:p>
          <a:p>
            <a:pPr marL="285750" indent="-285750">
              <a:buFont typeface="Arial" pitchFamily="34" charset="0"/>
              <a:buChar char="•"/>
            </a:pPr>
            <a:r>
              <a:rPr lang="en-US" sz="1400" i="1" dirty="0">
                <a:latin typeface="Times New Roman" pitchFamily="18" charset="0"/>
                <a:cs typeface="Times New Roman" pitchFamily="18" charset="0"/>
              </a:rPr>
              <a:t>Admin reads and replies</a:t>
            </a:r>
          </a:p>
        </p:txBody>
      </p:sp>
      <p:sp>
        <p:nvSpPr>
          <p:cNvPr id="7" name="TextBox 6"/>
          <p:cNvSpPr txBox="1"/>
          <p:nvPr/>
        </p:nvSpPr>
        <p:spPr>
          <a:xfrm>
            <a:off x="665629" y="5466268"/>
            <a:ext cx="4049507" cy="954107"/>
          </a:xfrm>
          <a:prstGeom prst="rect">
            <a:avLst/>
          </a:prstGeom>
          <a:ln>
            <a:solidFill>
              <a:schemeClr val="bg1"/>
            </a:solidFill>
          </a:ln>
        </p:spPr>
        <p:style>
          <a:lnRef idx="2">
            <a:schemeClr val="accent3"/>
          </a:lnRef>
          <a:fillRef idx="1">
            <a:schemeClr val="lt1"/>
          </a:fillRef>
          <a:effectRef idx="0">
            <a:schemeClr val="accent3"/>
          </a:effectRef>
          <a:fontRef idx="minor">
            <a:schemeClr val="dk1"/>
          </a:fontRef>
        </p:style>
        <p:txBody>
          <a:bodyPr wrap="none" rtlCol="0">
            <a:spAutoFit/>
          </a:bodyPr>
          <a:lstStyle/>
          <a:p>
            <a:r>
              <a:rPr lang="en-US" sz="1400" b="1" i="1" dirty="0">
                <a:latin typeface="Times New Roman" pitchFamily="18" charset="0"/>
                <a:cs typeface="Times New Roman" pitchFamily="18" charset="0"/>
              </a:rPr>
              <a:t>3. Database Stores All Form Data</a:t>
            </a:r>
          </a:p>
          <a:p>
            <a:r>
              <a:rPr lang="en-US" sz="1400" i="1" dirty="0">
                <a:latin typeface="Times New Roman" pitchFamily="18" charset="0"/>
                <a:cs typeface="Times New Roman" pitchFamily="18" charset="0"/>
              </a:rPr>
              <a:t>All user-submitted data is stored in tables such as:</a:t>
            </a:r>
          </a:p>
          <a:p>
            <a:r>
              <a:rPr lang="en-US" sz="1400" i="1" dirty="0">
                <a:latin typeface="Times New Roman" pitchFamily="18" charset="0"/>
                <a:cs typeface="Times New Roman" pitchFamily="18" charset="0"/>
              </a:rPr>
              <a:t>Users volunteers, donations, contact messages, posts </a:t>
            </a:r>
          </a:p>
          <a:p>
            <a:r>
              <a:rPr lang="en-US" sz="1400" i="1" dirty="0">
                <a:latin typeface="Times New Roman" pitchFamily="18" charset="0"/>
                <a:cs typeface="Times New Roman" pitchFamily="18" charset="0"/>
              </a:rPr>
              <a:t>This data is used by the admin panel.</a:t>
            </a:r>
          </a:p>
        </p:txBody>
      </p:sp>
      <p:sp>
        <p:nvSpPr>
          <p:cNvPr id="8" name="TextBox 7"/>
          <p:cNvSpPr txBox="1"/>
          <p:nvPr/>
        </p:nvSpPr>
        <p:spPr>
          <a:xfrm>
            <a:off x="5124755" y="986265"/>
            <a:ext cx="3690747" cy="1169551"/>
          </a:xfrm>
          <a:prstGeom prst="rect">
            <a:avLst/>
          </a:prstGeom>
          <a:ln>
            <a:solidFill>
              <a:schemeClr val="bg1"/>
            </a:solidFill>
          </a:ln>
        </p:spPr>
        <p:style>
          <a:lnRef idx="2">
            <a:schemeClr val="accent3"/>
          </a:lnRef>
          <a:fillRef idx="1">
            <a:schemeClr val="lt1"/>
          </a:fillRef>
          <a:effectRef idx="0">
            <a:schemeClr val="accent3"/>
          </a:effectRef>
          <a:fontRef idx="minor">
            <a:schemeClr val="dk1"/>
          </a:fontRef>
        </p:style>
        <p:txBody>
          <a:bodyPr wrap="square" rtlCol="0">
            <a:spAutoFit/>
          </a:bodyPr>
          <a:lstStyle/>
          <a:p>
            <a:r>
              <a:rPr lang="en-US" sz="1400" b="1" i="1" dirty="0">
                <a:latin typeface="Times New Roman" pitchFamily="18" charset="0"/>
                <a:cs typeface="Times New Roman" pitchFamily="18" charset="0"/>
              </a:rPr>
              <a:t>4. Admin Logs Into Admin Panel</a:t>
            </a:r>
          </a:p>
          <a:p>
            <a:r>
              <a:rPr lang="en-US" sz="1400" i="1" dirty="0">
                <a:latin typeface="Times New Roman" pitchFamily="18" charset="0"/>
                <a:cs typeface="Times New Roman" pitchFamily="18" charset="0"/>
              </a:rPr>
              <a:t>After login, Admin reaches the dashboard</a:t>
            </a:r>
          </a:p>
          <a:p>
            <a:r>
              <a:rPr lang="en-IN" sz="1400" i="1" dirty="0">
                <a:latin typeface="Times New Roman" pitchFamily="18" charset="0"/>
                <a:cs typeface="Times New Roman" pitchFamily="18" charset="0"/>
              </a:rPr>
              <a:t>Admin sees:</a:t>
            </a:r>
          </a:p>
          <a:p>
            <a:r>
              <a:rPr lang="en-IN" sz="1400" i="1" dirty="0">
                <a:latin typeface="Times New Roman" pitchFamily="18" charset="0"/>
                <a:cs typeface="Times New Roman" pitchFamily="18" charset="0"/>
              </a:rPr>
              <a:t>Overview :Total users</a:t>
            </a:r>
            <a:r>
              <a:rPr lang="en-IN" sz="1400" b="1" i="1" dirty="0">
                <a:latin typeface="Times New Roman" pitchFamily="18" charset="0"/>
                <a:cs typeface="Times New Roman" pitchFamily="18" charset="0"/>
              </a:rPr>
              <a:t>, </a:t>
            </a:r>
            <a:r>
              <a:rPr lang="en-IN" sz="1400" i="1" dirty="0">
                <a:latin typeface="Times New Roman" pitchFamily="18" charset="0"/>
                <a:cs typeface="Times New Roman" pitchFamily="18" charset="0"/>
              </a:rPr>
              <a:t>Donations ,Volunteers,</a:t>
            </a:r>
          </a:p>
          <a:p>
            <a:r>
              <a:rPr lang="en-IN" sz="1400" i="1" dirty="0">
                <a:latin typeface="Times New Roman" pitchFamily="18" charset="0"/>
                <a:cs typeface="Times New Roman" pitchFamily="18" charset="0"/>
              </a:rPr>
              <a:t>Published Posts , Contact Messages</a:t>
            </a:r>
            <a:endParaRPr lang="en-US" sz="2000" dirty="0"/>
          </a:p>
        </p:txBody>
      </p:sp>
      <p:sp>
        <p:nvSpPr>
          <p:cNvPr id="9" name="TextBox 8"/>
          <p:cNvSpPr txBox="1"/>
          <p:nvPr/>
        </p:nvSpPr>
        <p:spPr>
          <a:xfrm>
            <a:off x="5124755" y="2326947"/>
            <a:ext cx="4043937" cy="3323987"/>
          </a:xfrm>
          <a:prstGeom prst="rect">
            <a:avLst/>
          </a:prstGeom>
          <a:ln>
            <a:solidFill>
              <a:schemeClr val="bg1"/>
            </a:solidFill>
          </a:ln>
        </p:spPr>
        <p:style>
          <a:lnRef idx="2">
            <a:schemeClr val="accent3"/>
          </a:lnRef>
          <a:fillRef idx="1">
            <a:schemeClr val="lt1"/>
          </a:fillRef>
          <a:effectRef idx="0">
            <a:schemeClr val="accent3"/>
          </a:effectRef>
          <a:fontRef idx="minor">
            <a:schemeClr val="dk1"/>
          </a:fontRef>
        </p:style>
        <p:txBody>
          <a:bodyPr wrap="square" rtlCol="0">
            <a:spAutoFit/>
          </a:bodyPr>
          <a:lstStyle/>
          <a:p>
            <a:r>
              <a:rPr lang="en-US" sz="1400" b="1" i="1" dirty="0">
                <a:latin typeface="Times New Roman" pitchFamily="18" charset="0"/>
                <a:cs typeface="Times New Roman" pitchFamily="18" charset="0"/>
              </a:rPr>
              <a:t>5. Admin Managements Includes</a:t>
            </a:r>
            <a:endParaRPr lang="en-IN" sz="1400" b="1" i="1" dirty="0">
              <a:latin typeface="Times New Roman" pitchFamily="18" charset="0"/>
              <a:cs typeface="Times New Roman" pitchFamily="18" charset="0"/>
            </a:endParaRPr>
          </a:p>
          <a:p>
            <a:r>
              <a:rPr lang="en-IN" sz="1400" b="1" i="1" dirty="0">
                <a:latin typeface="Times New Roman" pitchFamily="18" charset="0"/>
                <a:cs typeface="Times New Roman" pitchFamily="18" charset="0"/>
              </a:rPr>
              <a:t> </a:t>
            </a:r>
            <a:r>
              <a:rPr lang="en-IN" sz="1400" i="1" dirty="0">
                <a:latin typeface="Times New Roman" pitchFamily="18" charset="0"/>
                <a:cs typeface="Times New Roman" pitchFamily="18" charset="0"/>
              </a:rPr>
              <a:t>User Management</a:t>
            </a:r>
          </a:p>
          <a:p>
            <a:pPr marL="171450" indent="-171450">
              <a:buFont typeface="Arial" pitchFamily="34" charset="0"/>
              <a:buChar char="•"/>
            </a:pPr>
            <a:r>
              <a:rPr lang="en-IN" sz="1400" i="1" dirty="0">
                <a:latin typeface="Times New Roman" pitchFamily="18" charset="0"/>
                <a:cs typeface="Times New Roman" pitchFamily="18" charset="0"/>
              </a:rPr>
              <a:t>View list of registered users &amp;  user's activity</a:t>
            </a:r>
          </a:p>
          <a:p>
            <a:r>
              <a:rPr lang="en-IN" sz="1400" b="1" i="1" dirty="0">
                <a:latin typeface="Times New Roman" pitchFamily="18" charset="0"/>
                <a:cs typeface="Times New Roman" pitchFamily="18" charset="0"/>
              </a:rPr>
              <a:t> </a:t>
            </a:r>
            <a:r>
              <a:rPr lang="en-IN" sz="1400" i="1" dirty="0">
                <a:latin typeface="Times New Roman" pitchFamily="18" charset="0"/>
                <a:cs typeface="Times New Roman" pitchFamily="18" charset="0"/>
              </a:rPr>
              <a:t>Volunteer Management</a:t>
            </a:r>
          </a:p>
          <a:p>
            <a:pPr marL="171450" indent="-171450">
              <a:buFont typeface="Arial" pitchFamily="34" charset="0"/>
              <a:buChar char="•"/>
            </a:pPr>
            <a:r>
              <a:rPr lang="en-IN" sz="1400" i="1" dirty="0">
                <a:latin typeface="Times New Roman" pitchFamily="18" charset="0"/>
                <a:cs typeface="Times New Roman" pitchFamily="18" charset="0"/>
              </a:rPr>
              <a:t>View all volunteer applications</a:t>
            </a:r>
          </a:p>
          <a:p>
            <a:pPr marL="171450" indent="-171450">
              <a:buFont typeface="Arial" pitchFamily="34" charset="0"/>
              <a:buChar char="•"/>
            </a:pPr>
            <a:r>
              <a:rPr lang="en-IN" sz="1400" i="1" dirty="0">
                <a:latin typeface="Times New Roman" pitchFamily="18" charset="0"/>
                <a:cs typeface="Times New Roman" pitchFamily="18" charset="0"/>
              </a:rPr>
              <a:t>Approve / reject requests</a:t>
            </a:r>
          </a:p>
          <a:p>
            <a:r>
              <a:rPr lang="en-IN" sz="1400" i="1" dirty="0">
                <a:latin typeface="Times New Roman" pitchFamily="18" charset="0"/>
                <a:cs typeface="Times New Roman" pitchFamily="18" charset="0"/>
              </a:rPr>
              <a:t>Post &amp; Content Management</a:t>
            </a:r>
          </a:p>
          <a:p>
            <a:pPr marL="171450" indent="-171450">
              <a:buFont typeface="Arial" pitchFamily="34" charset="0"/>
              <a:buChar char="•"/>
            </a:pPr>
            <a:r>
              <a:rPr lang="en-IN" sz="1400" i="1" dirty="0">
                <a:latin typeface="Times New Roman" pitchFamily="18" charset="0"/>
                <a:cs typeface="Times New Roman" pitchFamily="18" charset="0"/>
              </a:rPr>
              <a:t>Admin can Add / Edit / Delete:</a:t>
            </a:r>
          </a:p>
          <a:p>
            <a:pPr marL="171450" indent="-171450">
              <a:buFont typeface="Arial" pitchFamily="34" charset="0"/>
              <a:buChar char="•"/>
            </a:pPr>
            <a:r>
              <a:rPr lang="en-IN" sz="1400" i="1" dirty="0">
                <a:latin typeface="Times New Roman" pitchFamily="18" charset="0"/>
                <a:cs typeface="Times New Roman" pitchFamily="18" charset="0"/>
              </a:rPr>
              <a:t>Blogs, Stories, Programs</a:t>
            </a:r>
          </a:p>
          <a:p>
            <a:r>
              <a:rPr lang="en-IN" sz="1400" i="1" dirty="0">
                <a:latin typeface="Times New Roman" pitchFamily="18" charset="0"/>
                <a:cs typeface="Times New Roman" pitchFamily="18" charset="0"/>
              </a:rPr>
              <a:t>Form Data Management</a:t>
            </a:r>
          </a:p>
          <a:p>
            <a:pPr marL="171450" indent="-171450">
              <a:buFont typeface="Arial" pitchFamily="34" charset="0"/>
              <a:buChar char="•"/>
            </a:pPr>
            <a:r>
              <a:rPr lang="en-IN" sz="1400" i="1" dirty="0">
                <a:latin typeface="Times New Roman" pitchFamily="18" charset="0"/>
                <a:cs typeface="Times New Roman" pitchFamily="18" charset="0"/>
              </a:rPr>
              <a:t>Donation </a:t>
            </a:r>
            <a:r>
              <a:rPr lang="en-IN" sz="1400" i="1" dirty="0" err="1">
                <a:latin typeface="Times New Roman" pitchFamily="18" charset="0"/>
                <a:cs typeface="Times New Roman" pitchFamily="18" charset="0"/>
              </a:rPr>
              <a:t>ent</a:t>
            </a:r>
            <a:r>
              <a:rPr lang="en-IN" sz="1400" i="1" dirty="0">
                <a:latin typeface="Times New Roman" pitchFamily="18" charset="0"/>
                <a:cs typeface="Times New Roman" pitchFamily="18" charset="0"/>
              </a:rPr>
              <a:t> </a:t>
            </a:r>
            <a:r>
              <a:rPr lang="en-IN" sz="1400" i="1" dirty="0" err="1">
                <a:latin typeface="Times New Roman" pitchFamily="18" charset="0"/>
                <a:cs typeface="Times New Roman" pitchFamily="18" charset="0"/>
              </a:rPr>
              <a:t>ries</a:t>
            </a:r>
            <a:r>
              <a:rPr lang="en-IN" sz="1400" i="1" dirty="0">
                <a:latin typeface="Times New Roman" pitchFamily="18" charset="0"/>
                <a:cs typeface="Times New Roman" pitchFamily="18" charset="0"/>
              </a:rPr>
              <a:t>, Contact messages, Feedback submissions</a:t>
            </a:r>
          </a:p>
          <a:p>
            <a:r>
              <a:rPr lang="en-IN" sz="1400" i="1" dirty="0">
                <a:latin typeface="Times New Roman" pitchFamily="18" charset="0"/>
                <a:cs typeface="Times New Roman" pitchFamily="18" charset="0"/>
              </a:rPr>
              <a:t>Website Updates</a:t>
            </a:r>
          </a:p>
          <a:p>
            <a:pPr marL="171450" indent="-171450">
              <a:buFont typeface="Arial" pitchFamily="34" charset="0"/>
              <a:buChar char="•"/>
            </a:pPr>
            <a:r>
              <a:rPr lang="en-IN" sz="1400" i="1" dirty="0">
                <a:latin typeface="Times New Roman" pitchFamily="18" charset="0"/>
                <a:cs typeface="Times New Roman" pitchFamily="18" charset="0"/>
              </a:rPr>
              <a:t>Update program details</a:t>
            </a:r>
          </a:p>
          <a:p>
            <a:pPr marL="171450" indent="-171450">
              <a:buFont typeface="Arial" pitchFamily="34" charset="0"/>
              <a:buChar char="•"/>
            </a:pPr>
            <a:r>
              <a:rPr lang="en-IN" sz="1400" i="1" dirty="0">
                <a:latin typeface="Times New Roman" pitchFamily="18" charset="0"/>
                <a:cs typeface="Times New Roman" pitchFamily="18" charset="0"/>
              </a:rPr>
              <a:t>Upload images </a:t>
            </a:r>
          </a:p>
        </p:txBody>
      </p:sp>
    </p:spTree>
    <p:extLst>
      <p:ext uri="{BB962C8B-B14F-4D97-AF65-F5344CB8AC3E}">
        <p14:creationId xmlns:p14="http://schemas.microsoft.com/office/powerpoint/2010/main" val="3067521489"/>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7808" y="347870"/>
            <a:ext cx="3338514" cy="795129"/>
          </a:xfrm>
        </p:spPr>
        <p:txBody>
          <a:bodyPr>
            <a:noAutofit/>
          </a:bodyPr>
          <a:lstStyle/>
          <a:p>
            <a:r>
              <a:rPr lang="en-US" b="1" i="1" dirty="0">
                <a:latin typeface="Gabriola" panose="04040605051002020D02" pitchFamily="82" charset="0"/>
                <a:cs typeface="Times New Roman" panose="02020603050405020304" pitchFamily="18" charset="0"/>
              </a:rPr>
              <a:t>Home Page</a:t>
            </a:r>
            <a:endParaRPr lang="en-IN" b="1" i="1" dirty="0">
              <a:latin typeface="Gabriola" panose="04040605051002020D02" pitchFamily="82" charset="0"/>
              <a:cs typeface="Times New Roman" panose="02020603050405020304" pitchFamily="18" charset="0"/>
            </a:endParaRPr>
          </a:p>
        </p:txBody>
      </p:sp>
      <p:pic>
        <p:nvPicPr>
          <p:cNvPr id="102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42545" y="3150704"/>
            <a:ext cx="5921789" cy="3355059"/>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 name="Picture 3" descr="A group of women serving food&#10;&#10;AI-generated content may be incorrect.">
            <a:extLst>
              <a:ext uri="{FF2B5EF4-FFF2-40B4-BE49-F238E27FC236}">
                <a16:creationId xmlns:a16="http://schemas.microsoft.com/office/drawing/2014/main" id="{9E4D7F0F-FF06-63CE-E449-C60FAC0E8403}"/>
              </a:ext>
            </a:extLst>
          </p:cNvPr>
          <p:cNvPicPr>
            <a:picLocks noChangeAspect="1"/>
          </p:cNvPicPr>
          <p:nvPr/>
        </p:nvPicPr>
        <p:blipFill>
          <a:blip r:embed="rId3"/>
          <a:srcRect l="1721" r="2715"/>
          <a:stretch>
            <a:fillRect/>
          </a:stretch>
        </p:blipFill>
        <p:spPr>
          <a:xfrm>
            <a:off x="327666" y="1023730"/>
            <a:ext cx="5554033" cy="3031435"/>
          </a:xfrm>
          <a:prstGeom prst="rect">
            <a:avLst/>
          </a:prstGeom>
        </p:spPr>
      </p:pic>
    </p:spTree>
    <p:extLst>
      <p:ext uri="{BB962C8B-B14F-4D97-AF65-F5344CB8AC3E}">
        <p14:creationId xmlns:p14="http://schemas.microsoft.com/office/powerpoint/2010/main" val="2118051352"/>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903611"/>
          </a:xfrm>
        </p:spPr>
        <p:txBody>
          <a:bodyPr>
            <a:normAutofit/>
          </a:bodyPr>
          <a:lstStyle/>
          <a:p>
            <a:r>
              <a:rPr lang="en-US" sz="4000" dirty="0">
                <a:latin typeface="Gabriola" pitchFamily="82" charset="0"/>
              </a:rPr>
              <a:t>User login &amp; Sign Up</a:t>
            </a:r>
            <a:endParaRPr lang="en-IN" sz="4000" dirty="0">
              <a:latin typeface="Gabriola" pitchFamily="82" charset="0"/>
            </a:endParaRPr>
          </a:p>
        </p:txBody>
      </p:sp>
      <p:pic>
        <p:nvPicPr>
          <p:cNvPr id="614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424" t="5138" r="3306" b="5132"/>
          <a:stretch/>
        </p:blipFill>
        <p:spPr bwMode="auto">
          <a:xfrm>
            <a:off x="609207" y="1853076"/>
            <a:ext cx="3461087" cy="2929316"/>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147"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l="3538" t="9840" r="4543" b="9581"/>
          <a:stretch/>
        </p:blipFill>
        <p:spPr bwMode="auto">
          <a:xfrm>
            <a:off x="4685290" y="3002145"/>
            <a:ext cx="3738520" cy="2532808"/>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15916741"/>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474733"/>
          </a:xfrm>
        </p:spPr>
        <p:txBody>
          <a:bodyPr>
            <a:noAutofit/>
          </a:bodyPr>
          <a:lstStyle/>
          <a:p>
            <a:r>
              <a:rPr lang="en-US" sz="4000" dirty="0">
                <a:latin typeface="Gabriola" pitchFamily="82" charset="0"/>
              </a:rPr>
              <a:t>Programs</a:t>
            </a:r>
            <a:endParaRPr lang="en-IN" sz="4000" dirty="0">
              <a:latin typeface="Gabriola" pitchFamily="82" charset="0"/>
            </a:endParaRPr>
          </a:p>
        </p:txBody>
      </p:sp>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3829" y="1405000"/>
            <a:ext cx="5265399" cy="3816706"/>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 name="Picture 3" descr="A screenshot of a website&#10;&#10;AI-generated content may be incorrect.">
            <a:extLst>
              <a:ext uri="{FF2B5EF4-FFF2-40B4-BE49-F238E27FC236}">
                <a16:creationId xmlns:a16="http://schemas.microsoft.com/office/drawing/2014/main" id="{A51F49D8-05E1-A9BB-2B67-C1BF3C1230E0}"/>
              </a:ext>
            </a:extLst>
          </p:cNvPr>
          <p:cNvPicPr>
            <a:picLocks noChangeAspect="1"/>
          </p:cNvPicPr>
          <p:nvPr/>
        </p:nvPicPr>
        <p:blipFill>
          <a:blip r:embed="rId3"/>
          <a:srcRect t="6642" r="-652"/>
          <a:stretch>
            <a:fillRect/>
          </a:stretch>
        </p:blipFill>
        <p:spPr>
          <a:xfrm>
            <a:off x="5825188" y="3210339"/>
            <a:ext cx="6072983" cy="3309731"/>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3611112180"/>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98414"/>
          </a:xfrm>
        </p:spPr>
        <p:txBody>
          <a:bodyPr>
            <a:normAutofit/>
          </a:bodyPr>
          <a:lstStyle/>
          <a:p>
            <a:r>
              <a:rPr lang="en-US" sz="4000" dirty="0">
                <a:latin typeface="Gabriola" pitchFamily="82" charset="0"/>
              </a:rPr>
              <a:t>Donations</a:t>
            </a:r>
            <a:endParaRPr lang="en-IN" sz="4000" dirty="0">
              <a:latin typeface="Gabriola" pitchFamily="82" charset="0"/>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5453" y="1567593"/>
            <a:ext cx="4823137" cy="4897944"/>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41854" y="673157"/>
            <a:ext cx="4369700" cy="5869517"/>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646490532"/>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82230"/>
          </a:xfrm>
        </p:spPr>
        <p:txBody>
          <a:bodyPr>
            <a:normAutofit/>
          </a:bodyPr>
          <a:lstStyle/>
          <a:p>
            <a:r>
              <a:rPr lang="en-US" sz="4000" dirty="0">
                <a:latin typeface="Gabriola" pitchFamily="82" charset="0"/>
              </a:rPr>
              <a:t>Volunteers &amp; Contact us</a:t>
            </a:r>
            <a:endParaRPr lang="en-IN" sz="4000" dirty="0">
              <a:latin typeface="Gabriola" pitchFamily="82" charset="0"/>
            </a:endParaRP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5634" y="1492151"/>
            <a:ext cx="4773795" cy="5166918"/>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10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21065" y="1569278"/>
            <a:ext cx="6209901" cy="4386459"/>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68345527"/>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49862"/>
          </a:xfrm>
        </p:spPr>
        <p:txBody>
          <a:bodyPr>
            <a:normAutofit/>
          </a:bodyPr>
          <a:lstStyle/>
          <a:p>
            <a:r>
              <a:rPr lang="en-US" sz="4000" dirty="0">
                <a:latin typeface="Gabriola" pitchFamily="82" charset="0"/>
              </a:rPr>
              <a:t>Blogs, Stories &amp; About Us</a:t>
            </a:r>
            <a:endParaRPr lang="en-IN" sz="4000" dirty="0">
              <a:latin typeface="Gabriola" pitchFamily="82" charset="0"/>
            </a:endParaRPr>
          </a:p>
        </p:txBody>
      </p:sp>
      <p:pic>
        <p:nvPicPr>
          <p:cNvPr id="5123"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t="5756"/>
          <a:stretch/>
        </p:blipFill>
        <p:spPr bwMode="auto">
          <a:xfrm>
            <a:off x="6180667" y="1142920"/>
            <a:ext cx="4163515" cy="3026420"/>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4" name="Picture 4"/>
          <p:cNvPicPr>
            <a:picLocks noChangeAspect="1" noChangeArrowheads="1"/>
          </p:cNvPicPr>
          <p:nvPr/>
        </p:nvPicPr>
        <p:blipFill rotWithShape="1">
          <a:blip r:embed="rId3">
            <a:extLst>
              <a:ext uri="{28A0092B-C50C-407E-A947-70E740481C1C}">
                <a14:useLocalDpi xmlns:a14="http://schemas.microsoft.com/office/drawing/2010/main" val="0"/>
              </a:ext>
            </a:extLst>
          </a:blip>
          <a:srcRect t="8584" b="15924"/>
          <a:stretch/>
        </p:blipFill>
        <p:spPr bwMode="auto">
          <a:xfrm>
            <a:off x="2415472" y="4426342"/>
            <a:ext cx="4736249" cy="2237450"/>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 name="Picture 3">
            <a:extLst>
              <a:ext uri="{FF2B5EF4-FFF2-40B4-BE49-F238E27FC236}">
                <a16:creationId xmlns:a16="http://schemas.microsoft.com/office/drawing/2014/main" id="{C9B20A40-7B45-8569-4D58-7B489EFA62A3}"/>
              </a:ext>
            </a:extLst>
          </p:cNvPr>
          <p:cNvPicPr>
            <a:picLocks noChangeAspect="1"/>
          </p:cNvPicPr>
          <p:nvPr/>
        </p:nvPicPr>
        <p:blipFill>
          <a:blip r:embed="rId4"/>
          <a:stretch>
            <a:fillRect/>
          </a:stretch>
        </p:blipFill>
        <p:spPr>
          <a:xfrm>
            <a:off x="163221" y="1489061"/>
            <a:ext cx="5597807" cy="2680279"/>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475826873"/>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846966"/>
          </a:xfrm>
        </p:spPr>
        <p:txBody>
          <a:bodyPr>
            <a:normAutofit/>
          </a:bodyPr>
          <a:lstStyle/>
          <a:p>
            <a:r>
              <a:rPr lang="en-US" sz="4000" dirty="0">
                <a:latin typeface="Gabriola" pitchFamily="82" charset="0"/>
                <a:cs typeface="Times New Roman" pitchFamily="18" charset="0"/>
              </a:rPr>
              <a:t>User’s Dashboard</a:t>
            </a:r>
            <a:endParaRPr lang="en-IN" sz="4000" dirty="0">
              <a:latin typeface="Gabriola" pitchFamily="82" charset="0"/>
              <a:cs typeface="Times New Roman" pitchFamily="18" charset="0"/>
            </a:endParaRPr>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1572" y="1578496"/>
            <a:ext cx="8439993" cy="4773752"/>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0183629"/>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A6EE4E-35D3-1BC2-3FC6-6C2516F8DE0D}"/>
              </a:ext>
            </a:extLst>
          </p:cNvPr>
          <p:cNvSpPr>
            <a:spLocks noGrp="1"/>
          </p:cNvSpPr>
          <p:nvPr>
            <p:ph type="title"/>
          </p:nvPr>
        </p:nvSpPr>
        <p:spPr>
          <a:xfrm>
            <a:off x="677334" y="609600"/>
            <a:ext cx="8596668" cy="632791"/>
          </a:xfrm>
        </p:spPr>
        <p:txBody>
          <a:bodyPr>
            <a:normAutofit fontScale="90000"/>
          </a:bodyPr>
          <a:lstStyle/>
          <a:p>
            <a:r>
              <a:rPr lang="en-IN" dirty="0">
                <a:latin typeface="Gabriola" panose="04040605051002020D02" pitchFamily="82" charset="0"/>
              </a:rPr>
              <a:t>Admin Login/Dashboard</a:t>
            </a:r>
          </a:p>
        </p:txBody>
      </p:sp>
      <p:pic>
        <p:nvPicPr>
          <p:cNvPr id="4" name="Picture 3">
            <a:extLst>
              <a:ext uri="{FF2B5EF4-FFF2-40B4-BE49-F238E27FC236}">
                <a16:creationId xmlns:a16="http://schemas.microsoft.com/office/drawing/2014/main" id="{17809119-17CC-4E1D-F6BF-B731ACAF34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8863" y="1242391"/>
            <a:ext cx="2961742" cy="2842592"/>
          </a:xfrm>
          <a:prstGeom prst="rect">
            <a:avLst/>
          </a:prstGeom>
          <a:ln>
            <a:noFill/>
          </a:ln>
          <a:effectLst>
            <a:outerShdw blurRad="190500" algn="tl" rotWithShape="0">
              <a:srgbClr val="000000">
                <a:alpha val="70000"/>
              </a:srgbClr>
            </a:outerShdw>
          </a:effectLst>
        </p:spPr>
      </p:pic>
      <p:pic>
        <p:nvPicPr>
          <p:cNvPr id="6" name="Picture 5">
            <a:extLst>
              <a:ext uri="{FF2B5EF4-FFF2-40B4-BE49-F238E27FC236}">
                <a16:creationId xmlns:a16="http://schemas.microsoft.com/office/drawing/2014/main" id="{5B00F6F1-9E9F-3D89-D952-36D3CF2C01FB}"/>
              </a:ext>
            </a:extLst>
          </p:cNvPr>
          <p:cNvPicPr>
            <a:picLocks noChangeAspect="1"/>
          </p:cNvPicPr>
          <p:nvPr/>
        </p:nvPicPr>
        <p:blipFill>
          <a:blip r:embed="rId3"/>
          <a:stretch>
            <a:fillRect/>
          </a:stretch>
        </p:blipFill>
        <p:spPr>
          <a:xfrm>
            <a:off x="3637721" y="1384409"/>
            <a:ext cx="7593281" cy="4598948"/>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3637304975"/>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BF079-EA73-FACD-F857-DE9BAC0EB4FE}"/>
              </a:ext>
            </a:extLst>
          </p:cNvPr>
          <p:cNvSpPr>
            <a:spLocks noGrp="1"/>
          </p:cNvSpPr>
          <p:nvPr>
            <p:ph type="title"/>
          </p:nvPr>
        </p:nvSpPr>
        <p:spPr>
          <a:xfrm>
            <a:off x="248478" y="182872"/>
            <a:ext cx="8596668" cy="752061"/>
          </a:xfrm>
        </p:spPr>
        <p:txBody>
          <a:bodyPr>
            <a:normAutofit/>
          </a:bodyPr>
          <a:lstStyle/>
          <a:p>
            <a:r>
              <a:rPr lang="en-IN" sz="4000" dirty="0">
                <a:latin typeface="Gabriola" panose="04040605051002020D02" pitchFamily="82" charset="0"/>
              </a:rPr>
              <a:t>Users and Donors</a:t>
            </a:r>
          </a:p>
        </p:txBody>
      </p:sp>
      <p:pic>
        <p:nvPicPr>
          <p:cNvPr id="4" name="Picture 3" descr="A screenshot of a computer&#10;&#10;AI-generated content may be incorrect.">
            <a:extLst>
              <a:ext uri="{FF2B5EF4-FFF2-40B4-BE49-F238E27FC236}">
                <a16:creationId xmlns:a16="http://schemas.microsoft.com/office/drawing/2014/main" id="{AAC3F293-7862-4275-2DEB-2706C588DD56}"/>
              </a:ext>
            </a:extLst>
          </p:cNvPr>
          <p:cNvPicPr>
            <a:picLocks noChangeAspect="1"/>
          </p:cNvPicPr>
          <p:nvPr/>
        </p:nvPicPr>
        <p:blipFill>
          <a:blip r:embed="rId2"/>
          <a:stretch>
            <a:fillRect/>
          </a:stretch>
        </p:blipFill>
        <p:spPr>
          <a:xfrm>
            <a:off x="234701" y="1083390"/>
            <a:ext cx="9481930" cy="1681868"/>
          </a:xfrm>
          <a:prstGeom prst="rect">
            <a:avLst/>
          </a:prstGeom>
        </p:spPr>
      </p:pic>
      <p:pic>
        <p:nvPicPr>
          <p:cNvPr id="6" name="Picture 5" descr="A screen shot of a computer&#10;&#10;AI-generated content may be incorrect.">
            <a:extLst>
              <a:ext uri="{FF2B5EF4-FFF2-40B4-BE49-F238E27FC236}">
                <a16:creationId xmlns:a16="http://schemas.microsoft.com/office/drawing/2014/main" id="{9372D337-5F4F-FDA9-B682-3158F98E62D4}"/>
              </a:ext>
            </a:extLst>
          </p:cNvPr>
          <p:cNvPicPr>
            <a:picLocks noChangeAspect="1"/>
          </p:cNvPicPr>
          <p:nvPr/>
        </p:nvPicPr>
        <p:blipFill>
          <a:blip r:embed="rId3"/>
          <a:stretch>
            <a:fillRect/>
          </a:stretch>
        </p:blipFill>
        <p:spPr>
          <a:xfrm>
            <a:off x="234701" y="3005789"/>
            <a:ext cx="9481930" cy="1687355"/>
          </a:xfrm>
          <a:prstGeom prst="rect">
            <a:avLst/>
          </a:prstGeom>
        </p:spPr>
      </p:pic>
      <p:pic>
        <p:nvPicPr>
          <p:cNvPr id="8" name="Picture 7" descr="A screenshot of a computer&#10;&#10;AI-generated content may be incorrect.">
            <a:extLst>
              <a:ext uri="{FF2B5EF4-FFF2-40B4-BE49-F238E27FC236}">
                <a16:creationId xmlns:a16="http://schemas.microsoft.com/office/drawing/2014/main" id="{72925E95-0FBC-30FC-30C7-297F890B4616}"/>
              </a:ext>
            </a:extLst>
          </p:cNvPr>
          <p:cNvPicPr>
            <a:picLocks noChangeAspect="1"/>
          </p:cNvPicPr>
          <p:nvPr/>
        </p:nvPicPr>
        <p:blipFill>
          <a:blip r:embed="rId4"/>
          <a:stretch>
            <a:fillRect/>
          </a:stretch>
        </p:blipFill>
        <p:spPr>
          <a:xfrm>
            <a:off x="234702" y="4890330"/>
            <a:ext cx="9481929" cy="1768559"/>
          </a:xfrm>
          <a:prstGeom prst="rect">
            <a:avLst/>
          </a:prstGeom>
        </p:spPr>
      </p:pic>
    </p:spTree>
    <p:extLst>
      <p:ext uri="{BB962C8B-B14F-4D97-AF65-F5344CB8AC3E}">
        <p14:creationId xmlns:p14="http://schemas.microsoft.com/office/powerpoint/2010/main" val="284230090"/>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4D3A68-3B0B-30EF-3022-F851D03B3DE2}"/>
              </a:ext>
            </a:extLst>
          </p:cNvPr>
          <p:cNvSpPr>
            <a:spLocks noGrp="1"/>
          </p:cNvSpPr>
          <p:nvPr>
            <p:ph type="title"/>
          </p:nvPr>
        </p:nvSpPr>
        <p:spPr>
          <a:xfrm>
            <a:off x="677334" y="609600"/>
            <a:ext cx="6399328" cy="851452"/>
          </a:xfrm>
        </p:spPr>
        <p:txBody>
          <a:bodyPr>
            <a:normAutofit fontScale="90000"/>
          </a:bodyPr>
          <a:lstStyle/>
          <a:p>
            <a:r>
              <a:rPr lang="en-IN" sz="4000" dirty="0">
                <a:latin typeface="Gabriola" panose="04040605051002020D02" pitchFamily="82" charset="0"/>
              </a:rPr>
              <a:t>Volunteer Application &amp; </a:t>
            </a:r>
            <a:r>
              <a:rPr lang="en-IN" sz="4400" dirty="0" err="1">
                <a:latin typeface="Gabriola" panose="04040605051002020D02" pitchFamily="82" charset="0"/>
              </a:rPr>
              <a:t>ContactMessage</a:t>
            </a:r>
            <a:endParaRPr lang="en-IN" sz="4000" dirty="0">
              <a:latin typeface="Gabriola" panose="04040605051002020D02" pitchFamily="82" charset="0"/>
            </a:endParaRPr>
          </a:p>
        </p:txBody>
      </p:sp>
      <p:pic>
        <p:nvPicPr>
          <p:cNvPr id="4" name="Picture 3" descr="A screenshot of a computer&#10;&#10;AI-generated content may be incorrect.">
            <a:extLst>
              <a:ext uri="{FF2B5EF4-FFF2-40B4-BE49-F238E27FC236}">
                <a16:creationId xmlns:a16="http://schemas.microsoft.com/office/drawing/2014/main" id="{A142B9AE-395F-E32E-BB13-A40001DB4DDA}"/>
              </a:ext>
            </a:extLst>
          </p:cNvPr>
          <p:cNvPicPr>
            <a:picLocks noChangeAspect="1"/>
          </p:cNvPicPr>
          <p:nvPr/>
        </p:nvPicPr>
        <p:blipFill>
          <a:blip r:embed="rId2"/>
          <a:stretch>
            <a:fillRect/>
          </a:stretch>
        </p:blipFill>
        <p:spPr>
          <a:xfrm>
            <a:off x="367748" y="1618859"/>
            <a:ext cx="9611139" cy="1810141"/>
          </a:xfrm>
          <a:prstGeom prst="rect">
            <a:avLst/>
          </a:prstGeom>
        </p:spPr>
      </p:pic>
      <p:pic>
        <p:nvPicPr>
          <p:cNvPr id="6" name="Picture 5" descr="A screenshot of a computer&#10;&#10;AI-generated content may be incorrect.">
            <a:extLst>
              <a:ext uri="{FF2B5EF4-FFF2-40B4-BE49-F238E27FC236}">
                <a16:creationId xmlns:a16="http://schemas.microsoft.com/office/drawing/2014/main" id="{F194A3C1-4510-3ADA-C464-8177BCFA5F6A}"/>
              </a:ext>
            </a:extLst>
          </p:cNvPr>
          <p:cNvPicPr>
            <a:picLocks noChangeAspect="1"/>
          </p:cNvPicPr>
          <p:nvPr/>
        </p:nvPicPr>
        <p:blipFill>
          <a:blip r:embed="rId3"/>
          <a:stretch>
            <a:fillRect/>
          </a:stretch>
        </p:blipFill>
        <p:spPr>
          <a:xfrm>
            <a:off x="367748" y="3802898"/>
            <a:ext cx="9611139" cy="1743356"/>
          </a:xfrm>
          <a:prstGeom prst="rect">
            <a:avLst/>
          </a:prstGeom>
        </p:spPr>
      </p:pic>
    </p:spTree>
    <p:extLst>
      <p:ext uri="{BB962C8B-B14F-4D97-AF65-F5344CB8AC3E}">
        <p14:creationId xmlns:p14="http://schemas.microsoft.com/office/powerpoint/2010/main" val="1229694795"/>
      </p:ext>
    </p:extLst>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1B8679-A891-451C-3439-700B7DEDFC6B}"/>
              </a:ext>
            </a:extLst>
          </p:cNvPr>
          <p:cNvSpPr>
            <a:spLocks noGrp="1"/>
          </p:cNvSpPr>
          <p:nvPr>
            <p:ph type="title"/>
          </p:nvPr>
        </p:nvSpPr>
        <p:spPr>
          <a:xfrm>
            <a:off x="131080" y="204847"/>
            <a:ext cx="8596668" cy="712304"/>
          </a:xfrm>
        </p:spPr>
        <p:txBody>
          <a:bodyPr>
            <a:normAutofit/>
          </a:bodyPr>
          <a:lstStyle/>
          <a:p>
            <a:r>
              <a:rPr lang="en-IN" sz="4000" dirty="0">
                <a:latin typeface="Gabriola" panose="04040605051002020D02" pitchFamily="82" charset="0"/>
              </a:rPr>
              <a:t>Program And Blog Management</a:t>
            </a:r>
          </a:p>
        </p:txBody>
      </p:sp>
      <p:pic>
        <p:nvPicPr>
          <p:cNvPr id="6" name="Picture 5" descr="A screenshot of a computer&#10;&#10;AI-generated content may be incorrect.">
            <a:extLst>
              <a:ext uri="{FF2B5EF4-FFF2-40B4-BE49-F238E27FC236}">
                <a16:creationId xmlns:a16="http://schemas.microsoft.com/office/drawing/2014/main" id="{58EA87EF-D14A-4849-3A44-9B7C207A8178}"/>
              </a:ext>
            </a:extLst>
          </p:cNvPr>
          <p:cNvPicPr>
            <a:picLocks noChangeAspect="1"/>
          </p:cNvPicPr>
          <p:nvPr/>
        </p:nvPicPr>
        <p:blipFill>
          <a:blip r:embed="rId2"/>
          <a:stretch>
            <a:fillRect/>
          </a:stretch>
        </p:blipFill>
        <p:spPr>
          <a:xfrm>
            <a:off x="6209075" y="2904416"/>
            <a:ext cx="5851845" cy="3826565"/>
          </a:xfrm>
          <a:prstGeom prst="rect">
            <a:avLst/>
          </a:prstGeom>
          <a:ln>
            <a:noFill/>
          </a:ln>
          <a:effectLst>
            <a:outerShdw blurRad="190500" algn="tl" rotWithShape="0">
              <a:srgbClr val="000000">
                <a:alpha val="70000"/>
              </a:srgbClr>
            </a:outerShdw>
          </a:effectLst>
        </p:spPr>
      </p:pic>
      <p:pic>
        <p:nvPicPr>
          <p:cNvPr id="8" name="Picture 7" descr="A screenshot of a computer&#10;&#10;AI-generated content may be incorrect.">
            <a:extLst>
              <a:ext uri="{FF2B5EF4-FFF2-40B4-BE49-F238E27FC236}">
                <a16:creationId xmlns:a16="http://schemas.microsoft.com/office/drawing/2014/main" id="{66A95D65-6901-CFEB-A251-A65202BA83C2}"/>
              </a:ext>
            </a:extLst>
          </p:cNvPr>
          <p:cNvPicPr>
            <a:picLocks noChangeAspect="1"/>
          </p:cNvPicPr>
          <p:nvPr/>
        </p:nvPicPr>
        <p:blipFill>
          <a:blip r:embed="rId3"/>
          <a:stretch>
            <a:fillRect/>
          </a:stretch>
        </p:blipFill>
        <p:spPr>
          <a:xfrm>
            <a:off x="131080" y="1031480"/>
            <a:ext cx="5882500" cy="3292041"/>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722426956"/>
      </p:ext>
    </p:extLst>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6F7AA7-FFF2-8A15-2962-8C325CE5DF2C}"/>
              </a:ext>
            </a:extLst>
          </p:cNvPr>
          <p:cNvSpPr>
            <a:spLocks noGrp="1"/>
          </p:cNvSpPr>
          <p:nvPr>
            <p:ph type="title"/>
          </p:nvPr>
        </p:nvSpPr>
        <p:spPr>
          <a:xfrm>
            <a:off x="677334" y="609600"/>
            <a:ext cx="8596668" cy="632791"/>
          </a:xfrm>
        </p:spPr>
        <p:txBody>
          <a:bodyPr>
            <a:noAutofit/>
          </a:bodyPr>
          <a:lstStyle/>
          <a:p>
            <a:r>
              <a:rPr lang="en-IN" b="1" dirty="0">
                <a:latin typeface="Gabriola" panose="04040605051002020D02" pitchFamily="82" charset="0"/>
              </a:rPr>
              <a:t>DFD</a:t>
            </a:r>
            <a:r>
              <a:rPr lang="en-IN" dirty="0">
                <a:latin typeface="Gabriola" panose="04040605051002020D02" pitchFamily="82" charset="0"/>
              </a:rPr>
              <a:t> </a:t>
            </a:r>
            <a:r>
              <a:rPr lang="en-IN" b="1" dirty="0">
                <a:latin typeface="Gabriola" panose="04040605051002020D02" pitchFamily="82" charset="0"/>
              </a:rPr>
              <a:t>Diagram</a:t>
            </a:r>
            <a:r>
              <a:rPr lang="en-IN" dirty="0">
                <a:latin typeface="Gabriola" panose="04040605051002020D02" pitchFamily="82" charset="0"/>
              </a:rPr>
              <a:t> </a:t>
            </a:r>
          </a:p>
        </p:txBody>
      </p:sp>
      <p:pic>
        <p:nvPicPr>
          <p:cNvPr id="3" name="Picture 2">
            <a:extLst>
              <a:ext uri="{FF2B5EF4-FFF2-40B4-BE49-F238E27FC236}">
                <a16:creationId xmlns:a16="http://schemas.microsoft.com/office/drawing/2014/main" id="{111F8C20-4456-D3C9-F8A2-3C972D21558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457216" y="1269205"/>
            <a:ext cx="7354956" cy="1140867"/>
          </a:xfrm>
          <a:prstGeom prst="rect">
            <a:avLst/>
          </a:prstGeom>
          <a:noFill/>
          <a:ln>
            <a:noFill/>
          </a:ln>
        </p:spPr>
      </p:pic>
      <p:sp>
        <p:nvSpPr>
          <p:cNvPr id="4" name="TextBox 3">
            <a:extLst>
              <a:ext uri="{FF2B5EF4-FFF2-40B4-BE49-F238E27FC236}">
                <a16:creationId xmlns:a16="http://schemas.microsoft.com/office/drawing/2014/main" id="{17CF8541-F4DE-559E-962A-900FBD60D2E1}"/>
              </a:ext>
            </a:extLst>
          </p:cNvPr>
          <p:cNvSpPr txBox="1"/>
          <p:nvPr/>
        </p:nvSpPr>
        <p:spPr>
          <a:xfrm>
            <a:off x="4396409" y="961428"/>
            <a:ext cx="1699591" cy="307777"/>
          </a:xfrm>
          <a:prstGeom prst="rect">
            <a:avLst/>
          </a:prstGeom>
          <a:noFill/>
        </p:spPr>
        <p:txBody>
          <a:bodyPr wrap="square" rtlCol="0">
            <a:spAutoFit/>
          </a:bodyPr>
          <a:lstStyle/>
          <a:p>
            <a:r>
              <a:rPr lang="en-IN" sz="1400" dirty="0"/>
              <a:t>Zero level DFD</a:t>
            </a:r>
          </a:p>
        </p:txBody>
      </p:sp>
      <p:pic>
        <p:nvPicPr>
          <p:cNvPr id="5" name="Picture 4">
            <a:extLst>
              <a:ext uri="{FF2B5EF4-FFF2-40B4-BE49-F238E27FC236}">
                <a16:creationId xmlns:a16="http://schemas.microsoft.com/office/drawing/2014/main" id="{BC1F7276-4D14-A097-BA0F-D8790964CF7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43854" y="2436885"/>
            <a:ext cx="3860535" cy="4250615"/>
          </a:xfrm>
          <a:prstGeom prst="rect">
            <a:avLst/>
          </a:prstGeom>
          <a:noFill/>
          <a:ln>
            <a:noFill/>
          </a:ln>
        </p:spPr>
      </p:pic>
      <p:pic>
        <p:nvPicPr>
          <p:cNvPr id="6" name="Picture 5">
            <a:extLst>
              <a:ext uri="{FF2B5EF4-FFF2-40B4-BE49-F238E27FC236}">
                <a16:creationId xmlns:a16="http://schemas.microsoft.com/office/drawing/2014/main" id="{AB734535-DA19-440A-916F-EA4EF96231FC}"/>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045242" y="2487243"/>
            <a:ext cx="3860535" cy="4245204"/>
          </a:xfrm>
          <a:prstGeom prst="rect">
            <a:avLst/>
          </a:prstGeom>
          <a:noFill/>
          <a:ln>
            <a:noFill/>
          </a:ln>
        </p:spPr>
      </p:pic>
    </p:spTree>
    <p:extLst>
      <p:ext uri="{BB962C8B-B14F-4D97-AF65-F5344CB8AC3E}">
        <p14:creationId xmlns:p14="http://schemas.microsoft.com/office/powerpoint/2010/main" val="1946492669"/>
      </p:ext>
    </p:extLst>
  </p:cSld>
  <p:clrMapOvr>
    <a:masterClrMapping/>
  </p:clrMapOvr>
  <p:transition spd="slow">
    <p:wip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E8F3D2E-761E-8CE4-4999-7FC662E9A04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38187" y="1212574"/>
            <a:ext cx="8357335" cy="5188227"/>
          </a:xfrm>
          <a:prstGeom prst="rect">
            <a:avLst/>
          </a:prstGeom>
          <a:noFill/>
          <a:ln>
            <a:noFill/>
          </a:ln>
        </p:spPr>
      </p:pic>
      <p:sp>
        <p:nvSpPr>
          <p:cNvPr id="2" name="Title 1">
            <a:extLst>
              <a:ext uri="{FF2B5EF4-FFF2-40B4-BE49-F238E27FC236}">
                <a16:creationId xmlns:a16="http://schemas.microsoft.com/office/drawing/2014/main" id="{6CE52F1E-8769-C795-4B2F-35F4F2246797}"/>
              </a:ext>
            </a:extLst>
          </p:cNvPr>
          <p:cNvSpPr>
            <a:spLocks noGrp="1"/>
          </p:cNvSpPr>
          <p:nvPr>
            <p:ph type="title"/>
          </p:nvPr>
        </p:nvSpPr>
        <p:spPr>
          <a:xfrm>
            <a:off x="677334" y="609600"/>
            <a:ext cx="8596668" cy="702365"/>
          </a:xfrm>
        </p:spPr>
        <p:txBody>
          <a:bodyPr/>
          <a:lstStyle/>
          <a:p>
            <a:r>
              <a:rPr lang="en-IN" b="1" dirty="0">
                <a:latin typeface="Gabriola" panose="04040605051002020D02" pitchFamily="82" charset="0"/>
              </a:rPr>
              <a:t>Entity Relationship Diagram</a:t>
            </a:r>
          </a:p>
        </p:txBody>
      </p:sp>
    </p:spTree>
    <p:extLst>
      <p:ext uri="{BB962C8B-B14F-4D97-AF65-F5344CB8AC3E}">
        <p14:creationId xmlns:p14="http://schemas.microsoft.com/office/powerpoint/2010/main" val="4239948527"/>
      </p:ext>
    </p:extLst>
  </p:cSld>
  <p:clrMapOvr>
    <a:masterClrMapping/>
  </p:clrMapOvr>
  <p:transition spd="slow">
    <p:wip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855058"/>
          </a:xfrm>
        </p:spPr>
        <p:txBody>
          <a:bodyPr>
            <a:normAutofit/>
          </a:bodyPr>
          <a:lstStyle/>
          <a:p>
            <a:pPr algn="ctr"/>
            <a:r>
              <a:rPr lang="en-US" sz="4000" b="1" i="1" dirty="0">
                <a:latin typeface="Gabriola" pitchFamily="82" charset="0"/>
              </a:rPr>
              <a:t>Conclusion</a:t>
            </a:r>
            <a:endParaRPr lang="en-IN" sz="4800" b="1" i="1" dirty="0">
              <a:latin typeface="Gabriola" pitchFamily="82" charset="0"/>
            </a:endParaRPr>
          </a:p>
        </p:txBody>
      </p:sp>
      <p:sp>
        <p:nvSpPr>
          <p:cNvPr id="3" name="TextBox 2"/>
          <p:cNvSpPr txBox="1"/>
          <p:nvPr/>
        </p:nvSpPr>
        <p:spPr>
          <a:xfrm>
            <a:off x="516956" y="1582340"/>
            <a:ext cx="8917424" cy="3693319"/>
          </a:xfrm>
          <a:prstGeom prst="rect">
            <a:avLst/>
          </a:prstGeom>
          <a:noFill/>
        </p:spPr>
        <p:txBody>
          <a:bodyPr wrap="square" rtlCol="0">
            <a:spAutoFit/>
          </a:bodyPr>
          <a:lstStyle/>
          <a:p>
            <a:pPr algn="ctr"/>
            <a:r>
              <a:rPr lang="en-US" i="1" dirty="0">
                <a:latin typeface="Times New Roman" pitchFamily="18" charset="0"/>
                <a:cs typeface="Times New Roman" pitchFamily="18" charset="0"/>
              </a:rPr>
              <a:t>ServerKind successfully establishes a digital platform that simplifies and organizes community support activities such as donations, volunteering, and program management.</a:t>
            </a:r>
          </a:p>
          <a:p>
            <a:pPr algn="ctr"/>
            <a:r>
              <a:rPr lang="en-US" i="1" dirty="0">
                <a:latin typeface="Times New Roman" pitchFamily="18" charset="0"/>
                <a:cs typeface="Times New Roman" pitchFamily="18" charset="0"/>
              </a:rPr>
              <a:t>By providing an easy-to-use interface for users and a powerful admin panel for the organization, ServerKind ensures transparency, efficiency, and real-time communication.</a:t>
            </a:r>
          </a:p>
          <a:p>
            <a:pPr algn="ctr"/>
            <a:endParaRPr lang="en-US" i="1" dirty="0">
              <a:latin typeface="Times New Roman" pitchFamily="18" charset="0"/>
              <a:cs typeface="Times New Roman" pitchFamily="18" charset="0"/>
            </a:endParaRPr>
          </a:p>
          <a:p>
            <a:pPr algn="ctr"/>
            <a:r>
              <a:rPr lang="en-US" i="1" dirty="0">
                <a:latin typeface="Times New Roman" pitchFamily="18" charset="0"/>
                <a:cs typeface="Times New Roman" pitchFamily="18" charset="0"/>
              </a:rPr>
              <a:t>The system enables the NGO to reach more people, manage resources better, and handle form submissions in a structured  manner. Features like volunteer approvals, donation tracking, blog updates, and program management help build trust and engagement within the community.</a:t>
            </a:r>
          </a:p>
          <a:p>
            <a:pPr algn="ctr"/>
            <a:endParaRPr lang="en-US" i="1" dirty="0">
              <a:latin typeface="Times New Roman" pitchFamily="18" charset="0"/>
              <a:cs typeface="Times New Roman" pitchFamily="18" charset="0"/>
            </a:endParaRPr>
          </a:p>
          <a:p>
            <a:pPr algn="ctr"/>
            <a:r>
              <a:rPr lang="en-US" i="1" dirty="0">
                <a:latin typeface="Times New Roman" pitchFamily="18" charset="0"/>
                <a:cs typeface="Times New Roman" pitchFamily="18" charset="0"/>
              </a:rPr>
              <a:t>Overall, ServerKind contributes to a more connected, informed, and socially responsible society by bridging the gap between people willing to help and those who need support.</a:t>
            </a:r>
          </a:p>
          <a:p>
            <a:endParaRPr lang="en-IN" i="1" dirty="0">
              <a:latin typeface="Times New Roman" pitchFamily="18" charset="0"/>
              <a:cs typeface="Times New Roman" pitchFamily="18" charset="0"/>
            </a:endParaRPr>
          </a:p>
        </p:txBody>
      </p:sp>
    </p:spTree>
    <p:extLst>
      <p:ext uri="{BB962C8B-B14F-4D97-AF65-F5344CB8AC3E}">
        <p14:creationId xmlns:p14="http://schemas.microsoft.com/office/powerpoint/2010/main" val="941502223"/>
      </p:ext>
    </p:extLst>
  </p:cSld>
  <p:clrMapOvr>
    <a:masterClrMapping/>
  </p:clrMapOvr>
  <p:transition spd="slow">
    <p:wip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895519"/>
          </a:xfrm>
        </p:spPr>
        <p:txBody>
          <a:bodyPr>
            <a:normAutofit/>
          </a:bodyPr>
          <a:lstStyle/>
          <a:p>
            <a:pPr algn="ctr"/>
            <a:r>
              <a:rPr lang="en-US" sz="4400" b="1" i="1" dirty="0">
                <a:latin typeface="Gabriola" pitchFamily="82" charset="0"/>
              </a:rPr>
              <a:t>References</a:t>
            </a:r>
            <a:endParaRPr lang="en-IN" sz="4400" b="1" i="1" dirty="0">
              <a:latin typeface="Gabriola" pitchFamily="82" charset="0"/>
            </a:endParaRPr>
          </a:p>
        </p:txBody>
      </p:sp>
      <p:sp>
        <p:nvSpPr>
          <p:cNvPr id="3" name="TextBox 2"/>
          <p:cNvSpPr txBox="1"/>
          <p:nvPr/>
        </p:nvSpPr>
        <p:spPr>
          <a:xfrm>
            <a:off x="1286634" y="2079653"/>
            <a:ext cx="8189230" cy="3139321"/>
          </a:xfrm>
          <a:prstGeom prst="rect">
            <a:avLst/>
          </a:prstGeom>
          <a:noFill/>
        </p:spPr>
        <p:txBody>
          <a:bodyPr wrap="none" rtlCol="0">
            <a:spAutoFit/>
          </a:bodyPr>
          <a:lstStyle/>
          <a:p>
            <a:r>
              <a:rPr lang="en-IN" dirty="0">
                <a:hlinkClick r:id="rId2"/>
              </a:rPr>
              <a:t>https://www.apachefriends.org/</a:t>
            </a:r>
            <a:r>
              <a:rPr lang="en-IN" dirty="0"/>
              <a:t> - for </a:t>
            </a:r>
            <a:r>
              <a:rPr lang="en-IN" dirty="0" err="1"/>
              <a:t>php</a:t>
            </a:r>
            <a:r>
              <a:rPr lang="en-IN" dirty="0"/>
              <a:t> And </a:t>
            </a:r>
            <a:r>
              <a:rPr lang="en-IN" dirty="0" err="1"/>
              <a:t>Mysql</a:t>
            </a:r>
            <a:r>
              <a:rPr lang="en-IN" dirty="0"/>
              <a:t> database</a:t>
            </a:r>
          </a:p>
          <a:p>
            <a:endParaRPr lang="en-IN" dirty="0"/>
          </a:p>
          <a:p>
            <a:r>
              <a:rPr lang="en-IN" dirty="0">
                <a:hlinkClick r:id="rId3"/>
              </a:rPr>
              <a:t>https://www.mca.gov.in/content/mca/global/</a:t>
            </a:r>
            <a:r>
              <a:rPr lang="en-IN" dirty="0"/>
              <a:t> - Ministry of corporate Affairs</a:t>
            </a:r>
          </a:p>
          <a:p>
            <a:endParaRPr lang="en-IN" dirty="0"/>
          </a:p>
          <a:p>
            <a:r>
              <a:rPr lang="en-IN" dirty="0">
                <a:hlinkClick r:id="rId4"/>
              </a:rPr>
              <a:t>https://www.akshayapatra.org/</a:t>
            </a:r>
            <a:r>
              <a:rPr lang="en-IN" dirty="0"/>
              <a:t> -  NGO for references</a:t>
            </a:r>
          </a:p>
          <a:p>
            <a:endParaRPr lang="en-IN" dirty="0"/>
          </a:p>
          <a:p>
            <a:r>
              <a:rPr lang="en-IN" dirty="0">
                <a:hlinkClick r:id="rId5"/>
              </a:rPr>
              <a:t>https://gemini.google.com/</a:t>
            </a:r>
            <a:r>
              <a:rPr lang="en-IN" dirty="0"/>
              <a:t> - For website designing </a:t>
            </a:r>
          </a:p>
          <a:p>
            <a:endParaRPr lang="en-IN" dirty="0"/>
          </a:p>
          <a:p>
            <a:r>
              <a:rPr lang="en-IN" dirty="0">
                <a:hlinkClick r:id="rId6"/>
              </a:rPr>
              <a:t>https://chatgpt.com/</a:t>
            </a:r>
            <a:r>
              <a:rPr lang="en-IN" dirty="0"/>
              <a:t> - for coding </a:t>
            </a:r>
          </a:p>
          <a:p>
            <a:endParaRPr lang="en-IN" dirty="0"/>
          </a:p>
          <a:p>
            <a:r>
              <a:rPr lang="en-US" dirty="0">
                <a:hlinkClick r:id="rId7"/>
              </a:rPr>
              <a:t>https://www.youtube.com/</a:t>
            </a:r>
            <a:r>
              <a:rPr lang="en-US" dirty="0"/>
              <a:t> - For NGO working &amp; functions guidelines </a:t>
            </a:r>
          </a:p>
        </p:txBody>
      </p:sp>
    </p:spTree>
    <p:extLst>
      <p:ext uri="{BB962C8B-B14F-4D97-AF65-F5344CB8AC3E}">
        <p14:creationId xmlns:p14="http://schemas.microsoft.com/office/powerpoint/2010/main" val="2848078870"/>
      </p:ext>
    </p:extLst>
  </p:cSld>
  <p:clrMapOvr>
    <a:masterClrMapping/>
  </p:clrMapOvr>
  <p:transition spd="slow">
    <p:wipe/>
  </p:transition>
</p:sld>
</file>

<file path=ppt/theme/theme1.xml><?xml version="1.0" encoding="utf-8"?>
<a:theme xmlns:a="http://schemas.openxmlformats.org/drawingml/2006/main" name="Facet">
  <a:themeElements>
    <a:clrScheme name="Custom 1">
      <a:dk1>
        <a:srgbClr val="000000"/>
      </a:dk1>
      <a:lt1>
        <a:sysClr val="window" lastClr="FFFFFF"/>
      </a:lt1>
      <a:dk2>
        <a:srgbClr val="637052"/>
      </a:dk2>
      <a:lt2>
        <a:srgbClr val="CCDDEA"/>
      </a:lt2>
      <a:accent1>
        <a:srgbClr val="FF6600"/>
      </a:accent1>
      <a:accent2>
        <a:srgbClr val="FF3300"/>
      </a:accent2>
      <a:accent3>
        <a:srgbClr val="E48312"/>
      </a:accent3>
      <a:accent4>
        <a:srgbClr val="9B8357"/>
      </a:accent4>
      <a:accent5>
        <a:srgbClr val="C2BC80"/>
      </a:accent5>
      <a:accent6>
        <a:srgbClr val="94A088"/>
      </a:accent6>
      <a:hlink>
        <a:srgbClr val="2998E3"/>
      </a:hlink>
      <a:folHlink>
        <a:srgbClr val="8C8C8C"/>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lemental">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glow" dir="tl">
              <a:rot lat="0" lon="0" rev="19800000"/>
            </a:lightRig>
          </a:scene3d>
          <a:sp3d prstMaterial="metal">
            <a:bevelT w="38100" h="3810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50800" h="5080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23659B44-6E34-4CE8-8F0D-387DA79968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Peach Fuzz COTY 2024 Design Inspiration by Slidesgo</Template>
  <TotalTime>604</TotalTime>
  <Words>1308</Words>
  <Application>Microsoft Office PowerPoint</Application>
  <PresentationFormat>Widescreen</PresentationFormat>
  <Paragraphs>155</Paragraphs>
  <Slides>25</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25</vt:i4>
      </vt:variant>
    </vt:vector>
  </HeadingPairs>
  <TitlesOfParts>
    <vt:vector size="34" baseType="lpstr">
      <vt:lpstr>Arial</vt:lpstr>
      <vt:lpstr>Calibri</vt:lpstr>
      <vt:lpstr>Courier New</vt:lpstr>
      <vt:lpstr>Gabriola</vt:lpstr>
      <vt:lpstr>Pacifico</vt:lpstr>
      <vt:lpstr>Times New Roman</vt:lpstr>
      <vt:lpstr>Trebuchet MS</vt:lpstr>
      <vt:lpstr>Wingdings 3</vt:lpstr>
      <vt:lpstr>Facet</vt:lpstr>
      <vt:lpstr>  SHRINATHJI COLLEGE OF COMPUTER APPLICATION             ServeKind</vt:lpstr>
      <vt:lpstr>INDEX</vt:lpstr>
      <vt:lpstr>Introduction</vt:lpstr>
      <vt:lpstr>Software  Used: </vt:lpstr>
      <vt:lpstr>Main  Advantages of   ServeKind</vt:lpstr>
      <vt:lpstr>Features  of  Websites</vt:lpstr>
      <vt:lpstr>Scope  of  Project</vt:lpstr>
      <vt:lpstr>Future   Enhancements </vt:lpstr>
      <vt:lpstr>Objectives</vt:lpstr>
      <vt:lpstr>Workflow  of   website</vt:lpstr>
      <vt:lpstr>Home Page</vt:lpstr>
      <vt:lpstr>User login &amp; Sign Up</vt:lpstr>
      <vt:lpstr>Programs</vt:lpstr>
      <vt:lpstr>Donations</vt:lpstr>
      <vt:lpstr>Volunteers &amp; Contact us</vt:lpstr>
      <vt:lpstr>Blogs, Stories &amp; About Us</vt:lpstr>
      <vt:lpstr>User’s Dashboard</vt:lpstr>
      <vt:lpstr>Admin Login/Dashboard</vt:lpstr>
      <vt:lpstr>Users and Donors</vt:lpstr>
      <vt:lpstr>Volunteer Application &amp; ContactMessage</vt:lpstr>
      <vt:lpstr>Program And Blog Management</vt:lpstr>
      <vt:lpstr>DFD Diagram </vt:lpstr>
      <vt:lpstr>Entity Relationship Diagram</vt:lpstr>
      <vt:lpstr>Conclusion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SHRINATHJI COLLEGE OF COMPUTER APPLICATION             ServeKind</dc:title>
  <dc:creator>Krushi Patel</dc:creator>
  <cp:lastModifiedBy>Krushi Patel</cp:lastModifiedBy>
  <cp:revision>16</cp:revision>
  <dcterms:created xsi:type="dcterms:W3CDTF">2025-11-19T07:16:14Z</dcterms:created>
  <dcterms:modified xsi:type="dcterms:W3CDTF">2026-03-01T19:34:25Z</dcterms:modified>
</cp:coreProperties>
</file>